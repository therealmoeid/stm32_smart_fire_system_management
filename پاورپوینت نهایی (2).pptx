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0" r:id="rId13"/>
    <p:sldId id="271" r:id="rId14"/>
    <p:sldId id="272" r:id="rId15"/>
    <p:sldId id="273" r:id="rId16"/>
    <p:sldId id="268" r:id="rId17"/>
    <p:sldId id="269" r:id="rId18"/>
  </p:sldIdLst>
  <p:sldSz cx="12192000" cy="6858000"/>
  <p:notesSz cx="6858000" cy="12192000"/>
  <p:embeddedFontLst>
    <p:embeddedFont>
      <p:font typeface="B Nazanin" panose="00000400000000000000" pitchFamily="2" charset="-78"/>
      <p:regular r:id="rId20"/>
      <p:bold r:id="rId21"/>
    </p:embeddedFont>
    <p:embeddedFont>
      <p:font typeface="Raleway" pitchFamily="2" charset="0"/>
      <p:regular r:id="rId22"/>
    </p:embeddedFont>
    <p:embeddedFont>
      <p:font typeface="Raleway Bold" panose="020B0604020202020204" charset="0"/>
      <p:regular r:id="rId23"/>
    </p:embeddedFont>
    <p:embeddedFont>
      <p:font typeface="Roboto" panose="02000000000000000000" pitchFamily="2" charset="0"/>
      <p:regular r:id="rId24"/>
      <p:bold r:id="rId25"/>
    </p:embeddedFont>
    <p:embeddedFont>
      <p:font typeface="Roboto Bold" panose="020B0604020202020204" charset="0"/>
      <p:regular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38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9539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fa-I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5148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fa-IR" altLang="en-US" sz="3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سیستم هوشمند تشخیص و اطفاء حریق و نشت گاز با رویکرد بی‌درنگ</a:t>
            </a:r>
            <a:endParaRPr lang="fa-IR" sz="3200" dirty="0"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6682" y="1516162"/>
            <a:ext cx="11478330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Real-Time Smart Fire Detection and Gas Leak Management System</a:t>
            </a:r>
            <a:endParaRPr lang="en-US" sz="125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61475" y="1982986"/>
            <a:ext cx="10868745" cy="19050"/>
          </a:xfrm>
          <a:prstGeom prst="roundRect">
            <a:avLst>
              <a:gd name="adj" fmla="val 59999"/>
            </a:avLst>
          </a:prstGeom>
          <a:solidFill>
            <a:srgbClr val="3C3939">
              <a:alpha val="50000"/>
            </a:srgbClr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5" name="Shape 3"/>
          <p:cNvSpPr/>
          <p:nvPr/>
        </p:nvSpPr>
        <p:spPr>
          <a:xfrm>
            <a:off x="546086" y="2216547"/>
            <a:ext cx="5469694" cy="1736427"/>
          </a:xfrm>
          <a:prstGeom prst="roundRect">
            <a:avLst>
              <a:gd name="adj" fmla="val 6644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6" name="Text 4"/>
          <p:cNvSpPr/>
          <p:nvPr/>
        </p:nvSpPr>
        <p:spPr>
          <a:xfrm>
            <a:off x="706221" y="2371725"/>
            <a:ext cx="5149424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5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بستر پیاده‌سازی</a:t>
            </a:r>
            <a:endParaRPr lang="fa-IR" sz="1550" dirty="0">
              <a:cs typeface="B Nazanin" panose="00000400000000000000" pitchFamily="2" charset="-78"/>
            </a:endParaRPr>
          </a:p>
        </p:txBody>
      </p:sp>
      <p:sp>
        <p:nvSpPr>
          <p:cNvPr id="7" name="Text 5"/>
          <p:cNvSpPr/>
          <p:nvPr/>
        </p:nvSpPr>
        <p:spPr>
          <a:xfrm>
            <a:off x="706221" y="2777232"/>
            <a:ext cx="5149424" cy="6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31000"/>
              </a:lnSpc>
            </a:pPr>
            <a:r>
              <a:rPr lang="fa-IR" altLang="en-US" sz="12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ARM Cortex-M</a:t>
            </a:r>
            <a:r>
              <a:rPr lang="en-US" altLang="en-US" sz="12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3</a:t>
            </a:r>
            <a:r>
              <a:rPr lang="fa-IR" alt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میکروکنترلر </a:t>
            </a:r>
            <a:r>
              <a:rPr lang="en-US" alt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STM32F103C8T6 </a:t>
            </a:r>
            <a:r>
              <a:rPr lang="fa-IR" alt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با فرکانس </a:t>
            </a:r>
            <a:r>
              <a:rPr lang="en-US" alt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8</a:t>
            </a:r>
            <a:r>
              <a:rPr lang="fa-IR" alt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مگاهرتز</a:t>
            </a:r>
            <a:endParaRPr lang="fa-IR" sz="1250" dirty="0">
              <a:cs typeface="B Nazanin" panose="00000400000000000000" pitchFamily="2" charset="-78"/>
            </a:endParaRPr>
          </a:p>
          <a:p>
            <a:pPr marL="0" indent="0" algn="r" rtl="1">
              <a:lnSpc>
                <a:spcPct val="131000"/>
              </a:lnSpc>
              <a:buNone/>
            </a:pPr>
            <a:r>
              <a:rPr lang="fa-IR" alt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رویکرد </a:t>
            </a:r>
            <a:r>
              <a:rPr lang="fa-IR" altLang="en-US" sz="12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Bare-Metal</a:t>
            </a:r>
            <a:r>
              <a:rPr lang="fa-IR" alt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بدون سیستم‌عامل (پاسخ‌دهی قطعی زیر</a:t>
            </a:r>
            <a:r>
              <a:rPr lang="en-US" alt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1 ms</a:t>
            </a:r>
            <a:r>
              <a:rPr lang="fa-IR" alt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)</a:t>
            </a:r>
            <a:endParaRPr lang="fa-IR" sz="1250" dirty="0">
              <a:cs typeface="B Nazanin" panose="00000400000000000000" pitchFamily="2" charset="-78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97653" y="2371725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ar-SA" alt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مشخصات درس</a:t>
            </a:r>
            <a:endParaRPr lang="ar-SA" sz="1550" dirty="0">
              <a:cs typeface="B Nazanin" panose="00000400000000000000" pitchFamily="2" charset="-78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97653" y="2777232"/>
            <a:ext cx="5238917" cy="1257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1000"/>
              </a:lnSpc>
              <a:spcAft>
                <a:spcPts val="1050"/>
              </a:spcAft>
              <a:buNone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درس: سیستم‌های نهفته و بی‌درنگ</a:t>
            </a:r>
            <a:endParaRPr lang="fa-IR" sz="1400" dirty="0">
              <a:cs typeface="B Nazanin" panose="00000400000000000000" pitchFamily="2" charset="-78"/>
            </a:endParaRPr>
          </a:p>
          <a:p>
            <a:pPr marL="0" indent="0" algn="r" rtl="1">
              <a:lnSpc>
                <a:spcPct val="131000"/>
              </a:lnSpc>
              <a:spcAft>
                <a:spcPts val="1050"/>
              </a:spcAft>
              <a:buNone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استاد: دکتر سیاوش زرگری</a:t>
            </a:r>
            <a:endParaRPr lang="fa-IR" sz="1400" dirty="0">
              <a:cs typeface="B Nazanin" panose="00000400000000000000" pitchFamily="2" charset="-78"/>
            </a:endParaRPr>
          </a:p>
          <a:p>
            <a:pPr marL="0" indent="0" algn="r" rtl="1">
              <a:lnSpc>
                <a:spcPct val="131000"/>
              </a:lnSpc>
              <a:buNone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رویکرد </a:t>
            </a: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Real-Time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با معماری </a:t>
            </a: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ISR </a:t>
            </a:r>
            <a:r>
              <a:rPr lang="ar-SA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محور و </a:t>
            </a: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FSM</a:t>
            </a:r>
            <a:r>
              <a:rPr lang="ar-SA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سه‌حالته</a:t>
            </a: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73435" y="4127500"/>
            <a:ext cx="5356786" cy="935038"/>
          </a:xfrm>
          <a:prstGeom prst="roundRect">
            <a:avLst>
              <a:gd name="adj" fmla="val 719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1" name="Text 9"/>
          <p:cNvSpPr/>
          <p:nvPr/>
        </p:nvSpPr>
        <p:spPr>
          <a:xfrm>
            <a:off x="6339920" y="4293989"/>
            <a:ext cx="5023816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🔥</a:t>
            </a:r>
            <a:r>
              <a:rPr lang="fa-IR" alt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 تشخیص حریق</a:t>
            </a:r>
            <a:endParaRPr lang="fa-IR" sz="1550" dirty="0">
              <a:cs typeface="B Nazanin" panose="00000400000000000000" pitchFamily="2" charset="-7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39920" y="4643735"/>
            <a:ext cx="5023816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31000"/>
              </a:lnSpc>
            </a:pPr>
            <a:r>
              <a:rPr lang="ar-SA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سنسور </a:t>
            </a:r>
            <a:r>
              <a:rPr lang="en-US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LM35</a:t>
            </a:r>
            <a:r>
              <a:rPr lang="fa-IR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روی </a:t>
            </a:r>
            <a:r>
              <a:rPr lang="en-US" altLang="en-US" sz="1250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PA0</a:t>
            </a:r>
            <a:r>
              <a:rPr lang="ar-SA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</a:t>
            </a:r>
            <a:r>
              <a:rPr lang="ar-SA" dirty="0">
                <a:cs typeface="B Nazanin" panose="00000400000000000000" pitchFamily="2" charset="-78"/>
              </a:rPr>
              <a:t>آستانه </a:t>
            </a:r>
            <a:r>
              <a:rPr lang="en-US" dirty="0">
                <a:cs typeface="B Nazanin" panose="00000400000000000000" pitchFamily="2" charset="-78"/>
              </a:rPr>
              <a:t>ADC = 491/60℃</a:t>
            </a:r>
            <a:endParaRPr lang="fa-IR" sz="1250" dirty="0">
              <a:cs typeface="B Nazanin" panose="00000400000000000000" pitchFamily="2" charset="-7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1475" y="4152503"/>
            <a:ext cx="5356786" cy="935038"/>
          </a:xfrm>
          <a:prstGeom prst="roundRect">
            <a:avLst>
              <a:gd name="adj" fmla="val 719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4" name="Text 12"/>
          <p:cNvSpPr/>
          <p:nvPr/>
        </p:nvSpPr>
        <p:spPr>
          <a:xfrm>
            <a:off x="827960" y="4293989"/>
            <a:ext cx="5023816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💨</a:t>
            </a:r>
            <a:r>
              <a:rPr lang="fa-IR" alt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 پایش نشت گاز</a:t>
            </a:r>
            <a:endParaRPr lang="fa-IR" sz="1550" dirty="0">
              <a:cs typeface="B Nazanin" panose="00000400000000000000" pitchFamily="2" charset="-7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7960" y="4643735"/>
            <a:ext cx="5023816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31000"/>
              </a:lnSpc>
            </a:pPr>
            <a:r>
              <a:rPr lang="fa-IR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سنسور گاز روی </a:t>
            </a:r>
            <a:r>
              <a:rPr lang="fa-IR" altLang="en-US" sz="1250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PA</a:t>
            </a:r>
            <a:r>
              <a:rPr lang="en-US" altLang="en-US" sz="1250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1</a:t>
            </a:r>
            <a:r>
              <a:rPr lang="ar-SA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</a:t>
            </a:r>
            <a:r>
              <a:rPr lang="fa-IR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</a:t>
            </a:r>
            <a:r>
              <a:rPr lang="ar-SA" dirty="0">
                <a:cs typeface="B Nazanin" panose="00000400000000000000" pitchFamily="2" charset="-78"/>
              </a:rPr>
              <a:t>آستانه </a:t>
            </a:r>
            <a:r>
              <a:rPr lang="fa-IR" dirty="0">
                <a:cs typeface="B Nazanin" panose="00000400000000000000" pitchFamily="2" charset="-78"/>
              </a:rPr>
              <a:t>۲۰٪ / </a:t>
            </a:r>
            <a:r>
              <a:rPr lang="en-US" dirty="0">
                <a:cs typeface="B Nazanin" panose="00000400000000000000" pitchFamily="2" charset="-78"/>
              </a:rPr>
              <a:t>ADC=819</a:t>
            </a:r>
          </a:p>
          <a:p>
            <a:pPr marL="0" indent="0" algn="r" rtl="1">
              <a:lnSpc>
                <a:spcPct val="131000"/>
              </a:lnSpc>
              <a:buNone/>
            </a:pPr>
            <a:endParaRPr lang="fa-IR" sz="1250" dirty="0">
              <a:cs typeface="B Nazanin" panose="00000400000000000000" pitchFamily="2" charset="-7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73435" y="5217716"/>
            <a:ext cx="5356786" cy="935038"/>
          </a:xfrm>
          <a:prstGeom prst="roundRect">
            <a:avLst>
              <a:gd name="adj" fmla="val 719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7" name="Text 15"/>
          <p:cNvSpPr/>
          <p:nvPr/>
        </p:nvSpPr>
        <p:spPr>
          <a:xfrm>
            <a:off x="6339920" y="5384205"/>
            <a:ext cx="5023816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⚙️</a:t>
            </a:r>
            <a:r>
              <a:rPr lang="fa-IR" alt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 کنترل عملگرها</a:t>
            </a:r>
            <a:endParaRPr lang="fa-IR" sz="1550" dirty="0">
              <a:cs typeface="B Nazanin" panose="00000400000000000000" pitchFamily="2" charset="-7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39920" y="5733951"/>
            <a:ext cx="5023816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1000"/>
              </a:lnSpc>
              <a:buNone/>
            </a:pPr>
            <a:r>
              <a:rPr lang="fa-IR" alt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Servo</a:t>
            </a:r>
            <a:r>
              <a:rPr lang="fa-IR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روی </a:t>
            </a:r>
            <a:r>
              <a:rPr lang="fa-IR" alt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+mj-cs"/>
              </a:rPr>
              <a:t>Timer</a:t>
            </a:r>
            <a:r>
              <a:rPr lang="en-US" alt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+mj-cs"/>
              </a:rPr>
              <a:t>3</a:t>
            </a:r>
            <a:r>
              <a:rPr lang="ar-SA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و </a:t>
            </a:r>
            <a:r>
              <a:rPr lang="fa-IR" alt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DC Motor</a:t>
            </a:r>
            <a:r>
              <a:rPr lang="fa-IR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روی </a:t>
            </a:r>
            <a:r>
              <a:rPr lang="fa-IR" alt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Timer</a:t>
            </a:r>
            <a:r>
              <a:rPr lang="en-US" alt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2</a:t>
            </a:r>
            <a:endParaRPr lang="fa-IR" sz="1250" dirty="0">
              <a:cs typeface="B Nazanin" panose="00000400000000000000" pitchFamily="2" charset="-7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61475" y="5217716"/>
            <a:ext cx="5356786" cy="935038"/>
          </a:xfrm>
          <a:prstGeom prst="roundRect">
            <a:avLst>
              <a:gd name="adj" fmla="val 719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20" name="Text 18"/>
          <p:cNvSpPr/>
          <p:nvPr/>
        </p:nvSpPr>
        <p:spPr>
          <a:xfrm>
            <a:off x="827960" y="5384205"/>
            <a:ext cx="5023816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🖥️</a:t>
            </a:r>
            <a:r>
              <a:rPr lang="fa-IR" alt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 نمایش وضعیت</a:t>
            </a:r>
            <a:endParaRPr lang="fa-IR" sz="1550" dirty="0">
              <a:cs typeface="B Nazanin" panose="00000400000000000000" pitchFamily="2" charset="-7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1829" y="5733951"/>
            <a:ext cx="5023816" cy="418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31000"/>
              </a:lnSpc>
            </a:pPr>
            <a:r>
              <a:rPr lang="fa-IR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نمایشگر </a:t>
            </a:r>
            <a:r>
              <a:rPr lang="fa-IR" altLang="en-US" sz="1250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LCD</a:t>
            </a:r>
            <a:r>
              <a:rPr lang="fa-IR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روی پورت </a:t>
            </a:r>
            <a:r>
              <a:rPr lang="fa-IR" altLang="en-US" sz="1250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D</a:t>
            </a:r>
            <a:r>
              <a:rPr lang="fa-IR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کیپد </a:t>
            </a:r>
            <a:r>
              <a:rPr lang="en-US" dirty="0">
                <a:cs typeface="B Nazanin" panose="00000400000000000000" pitchFamily="2" charset="-78"/>
              </a:rPr>
              <a:t>4×4</a:t>
            </a:r>
            <a:r>
              <a:rPr lang="fa-IR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روی پورت </a:t>
            </a:r>
            <a:r>
              <a:rPr lang="fa-IR" altLang="en-US" sz="1250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B</a:t>
            </a:r>
            <a:endParaRPr lang="fa-IR" sz="1250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6"/>
    </mc:Choice>
    <mc:Fallback xmlns="">
      <p:transition spd="slow" advTm="95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322"/>
            <a:ext cx="10868745" cy="483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3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چرا این سیستم ضروری است؟</a:t>
            </a:r>
            <a:endParaRPr lang="fa-IR" sz="3200" dirty="0">
              <a:cs typeface="B Nazanin" panose="00000400000000000000" pitchFamily="2" charset="-7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50154" y="1113334"/>
            <a:ext cx="5468404" cy="1936651"/>
          </a:xfrm>
          <a:prstGeom prst="roundRect">
            <a:avLst>
              <a:gd name="adj" fmla="val 5750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4" name="Text 2"/>
          <p:cNvSpPr/>
          <p:nvPr/>
        </p:nvSpPr>
        <p:spPr>
          <a:xfrm>
            <a:off x="704733" y="1257895"/>
            <a:ext cx="515924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6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❌</a:t>
            </a:r>
            <a:r>
              <a:rPr lang="fa-IR" alt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 سیستم‌های سنتی، محدودیت‌های بنیادین</a:t>
            </a:r>
            <a:endParaRPr lang="fa-IR" sz="1600" dirty="0">
              <a:cs typeface="B Nazanin" panose="00000400000000000000" pitchFamily="2" charset="-78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733" y="1650504"/>
            <a:ext cx="5159246" cy="1348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r" rtl="1">
              <a:lnSpc>
                <a:spcPct val="129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زمان واکنش در حوادث آتش‌سوزی و نشت گاز، مرز بین کنترل و فاجعه است</a:t>
            </a:r>
            <a:endParaRPr lang="fa-IR" sz="1400" dirty="0">
              <a:cs typeface="B Nazanin" panose="00000400000000000000" pitchFamily="2" charset="-78"/>
            </a:endParaRPr>
          </a:p>
          <a:p>
            <a:pPr marL="243840" indent="-243840" algn="r" rtl="1">
              <a:lnSpc>
                <a:spcPct val="129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تکیه بر نیروی انسانی خطاپذیر است و سرعت عمل را به شدت کاهش می‌دهد</a:t>
            </a:r>
            <a:endParaRPr lang="fa-IR" sz="1400" dirty="0">
              <a:cs typeface="B Nazanin" panose="00000400000000000000" pitchFamily="2" charset="-78"/>
            </a:endParaRPr>
          </a:p>
          <a:p>
            <a:pPr marL="243840" indent="-243840" algn="r" rtl="1">
              <a:lnSpc>
                <a:spcPct val="129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سیستم‌های قدیمی فاقد قابلیت تصمیم‌گیری خودکار و هم‌زمان برای چند خطر هستند</a:t>
            </a:r>
            <a:endParaRPr lang="fa-IR" sz="1400" dirty="0">
              <a:cs typeface="B Nazanin" panose="00000400000000000000" pitchFamily="2" charset="-78"/>
            </a:endParaRPr>
          </a:p>
          <a:p>
            <a:pPr marL="243840" indent="-243840" algn="r" rtl="1">
              <a:lnSpc>
                <a:spcPct val="129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فاصله زمانی بین تشخیص و اقدام در سیستم‌های دستی بحرانی و قابل توجه است</a:t>
            </a: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6" name="Text 4"/>
          <p:cNvSpPr/>
          <p:nvPr/>
        </p:nvSpPr>
        <p:spPr>
          <a:xfrm>
            <a:off x="6290807" y="1296988"/>
            <a:ext cx="524576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6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✅</a:t>
            </a:r>
            <a:r>
              <a:rPr lang="fa-IR" alt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 راهکار پیشنهادی سیستم هوشمند Bare-Metal</a:t>
            </a:r>
            <a:endParaRPr lang="fa-IR" sz="1600" dirty="0">
              <a:cs typeface="B Nazanin" panose="00000400000000000000" pitchFamily="2" charset="-78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90807" y="1689597"/>
            <a:ext cx="5245763" cy="1109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r" rtl="1">
              <a:lnSpc>
                <a:spcPct val="129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سیستم تعبیه‌شده کاملاً خودکار مبتنی بر </a:t>
            </a: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ARM Cortex-M</a:t>
            </a:r>
            <a:r>
              <a:rPr lang="en-US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3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با رویکرد </a:t>
            </a: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Bare-Metal</a:t>
            </a:r>
            <a:endParaRPr lang="fa-IR" sz="1400" dirty="0">
              <a:cs typeface="B Nazanin" panose="00000400000000000000" pitchFamily="2" charset="-78"/>
            </a:endParaRPr>
          </a:p>
          <a:p>
            <a:pPr marL="243840" indent="-243840" algn="r" rtl="1">
              <a:lnSpc>
                <a:spcPct val="129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واکنش بدون دخالت انسان در کسری از میلی‌ثانیه از طریق </a:t>
            </a: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ISR</a:t>
            </a:r>
            <a:endParaRPr lang="fa-IR" sz="1400" dirty="0">
              <a:cs typeface="B Nazanin" panose="00000400000000000000" pitchFamily="2" charset="-78"/>
            </a:endParaRPr>
          </a:p>
          <a:p>
            <a:pPr marL="243840" indent="-243840" algn="r" rtl="1">
              <a:lnSpc>
                <a:spcPct val="129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پایش هم‌زمان دما و غلظت گاز با اولویت‌بندی هوشمند خطرات</a:t>
            </a:r>
            <a:endParaRPr lang="fa-IR" sz="1400" dirty="0">
              <a:cs typeface="B Nazanin" panose="00000400000000000000" pitchFamily="2" charset="-78"/>
            </a:endParaRPr>
          </a:p>
          <a:p>
            <a:pPr marL="243840" indent="-243840" algn="r" rtl="1">
              <a:lnSpc>
                <a:spcPct val="129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معماری </a:t>
            </a: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Real-Time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با تضمین زمان پاسخ قطعی (Deterministic Response)</a:t>
            </a: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19878" y="3420170"/>
            <a:ext cx="5076698" cy="51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83000"/>
              </a:lnSpc>
              <a:buNone/>
            </a:pPr>
            <a:r>
              <a:rPr lang="en-US" sz="4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&lt;1ms</a:t>
            </a:r>
            <a:endParaRPr lang="en-US" sz="4000" dirty="0">
              <a:cs typeface="B Nazanin" panose="00000400000000000000" pitchFamily="2" charset="-78"/>
            </a:endParaRPr>
          </a:p>
        </p:txBody>
      </p:sp>
      <p:sp>
        <p:nvSpPr>
          <p:cNvPr id="9" name="Text 7"/>
          <p:cNvSpPr/>
          <p:nvPr/>
        </p:nvSpPr>
        <p:spPr>
          <a:xfrm>
            <a:off x="6186234" y="4116288"/>
            <a:ext cx="5343987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fa-IR" alt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تأخیر ISR</a:t>
            </a:r>
            <a:endParaRPr lang="fa-IR" sz="1500" dirty="0">
              <a:cs typeface="B Nazanin" panose="00000400000000000000" pitchFamily="2" charset="-7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186234" y="4444702"/>
            <a:ext cx="5343987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29000"/>
              </a:lnSpc>
              <a:buNone/>
            </a:pP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زمان پاسخ قطعی از تشخیص تا اقدام</a:t>
            </a:r>
            <a:endParaRPr lang="fa-IR" sz="1200" dirty="0">
              <a:cs typeface="B Nazanin" panose="00000400000000000000" pitchFamily="2" charset="-7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5119" y="3420170"/>
            <a:ext cx="5076698" cy="51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83000"/>
              </a:lnSpc>
              <a:buNone/>
            </a:pPr>
            <a:r>
              <a:rPr lang="en-US" sz="4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8MHz</a:t>
            </a:r>
            <a:endParaRPr lang="en-US" sz="4000" dirty="0">
              <a:cs typeface="B Nazanin" panose="00000400000000000000" pitchFamily="2" charset="-7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1475" y="4116288"/>
            <a:ext cx="5343987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fa-IR" alt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فرکانس پردازنده</a:t>
            </a:r>
            <a:endParaRPr lang="fa-IR" sz="1500" dirty="0">
              <a:cs typeface="B Nazanin" panose="00000400000000000000" pitchFamily="2" charset="-7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1475" y="4444702"/>
            <a:ext cx="5343987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ct val="129000"/>
              </a:lnSpc>
            </a:pPr>
            <a:r>
              <a:rPr lang="ar-SA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هسته</a:t>
            </a:r>
            <a:r>
              <a:rPr lang="en-US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</a:t>
            </a:r>
            <a:r>
              <a:rPr lang="ar-SA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</a:t>
            </a:r>
            <a:r>
              <a:rPr lang="ar-SA" altLang="en-US" sz="1200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ARM Cortex-M</a:t>
            </a:r>
            <a:r>
              <a:rPr lang="en-US" altLang="en-US" sz="1200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3</a:t>
            </a:r>
            <a:r>
              <a:rPr lang="ar-SA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</a:t>
            </a:r>
            <a:r>
              <a:rPr lang="en-US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</a:t>
            </a:r>
            <a:r>
              <a:rPr lang="ar-SA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د</a:t>
            </a: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ر</a:t>
            </a:r>
            <a:r>
              <a:rPr lang="en-US" dirty="0">
                <a:cs typeface="B Nazanin" panose="00000400000000000000" pitchFamily="2" charset="-78"/>
              </a:rPr>
              <a:t> STM32F103C8T6 </a:t>
            </a:r>
          </a:p>
          <a:p>
            <a:pPr algn="ctr" rtl="1">
              <a:lnSpc>
                <a:spcPct val="129000"/>
              </a:lnSpc>
            </a:pPr>
            <a:endParaRPr lang="ar-SA" sz="1200" dirty="0">
              <a:cs typeface="+mj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19878" y="5050631"/>
            <a:ext cx="5076698" cy="51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83000"/>
              </a:lnSpc>
              <a:buNone/>
            </a:pPr>
            <a:r>
              <a:rPr lang="en-US" sz="4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12bit</a:t>
            </a:r>
            <a:endParaRPr lang="en-US" sz="4000" dirty="0">
              <a:cs typeface="B Nazanin" panose="00000400000000000000" pitchFamily="2" charset="-7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86234" y="5746750"/>
            <a:ext cx="5343987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ar-SA" alt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دقت ADC</a:t>
            </a:r>
            <a:endParaRPr lang="ar-SA" sz="1500" dirty="0">
              <a:cs typeface="B Nazanin" panose="00000400000000000000" pitchFamily="2" charset="-7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86234" y="6075164"/>
            <a:ext cx="5343987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29000"/>
              </a:lnSpc>
              <a:buNone/>
            </a:pPr>
            <a:r>
              <a:rPr lang="en-US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4096</a:t>
            </a: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سطح تفکیک برای خواندن سنسورها</a:t>
            </a:r>
            <a:endParaRPr lang="fa-IR" sz="1200" dirty="0">
              <a:cs typeface="B Nazanin" panose="00000400000000000000" pitchFamily="2" charset="-7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5119" y="5050631"/>
            <a:ext cx="5076698" cy="51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83000"/>
              </a:lnSpc>
              <a:buNone/>
            </a:pPr>
            <a:r>
              <a:rPr lang="en-US" sz="4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3</a:t>
            </a:r>
            <a:endParaRPr lang="en-US" sz="4000" dirty="0">
              <a:cs typeface="B Nazanin" panose="00000400000000000000" pitchFamily="2" charset="-7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1475" y="5746750"/>
            <a:ext cx="5343987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ar-SA" alt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حالات FSM</a:t>
            </a:r>
            <a:endParaRPr lang="ar-SA" sz="1500" dirty="0">
              <a:cs typeface="B Nazanin" panose="00000400000000000000" pitchFamily="2" charset="-7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1475" y="6075164"/>
            <a:ext cx="5343987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NORMAL، GAS_LEAK و FIRE با گذار قطعی </a:t>
            </a:r>
            <a:endParaRPr lang="fa-IR" sz="1200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9366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3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کالبدشکافی سخت‌افزار</a:t>
            </a:r>
            <a:endParaRPr lang="fa-IR" sz="3200" dirty="0"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51890" y="1372394"/>
            <a:ext cx="11478330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27000"/>
              </a:lnSpc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میکروکنترلر مرکزی:</a:t>
            </a:r>
            <a:r>
              <a:rPr lang="en-US" dirty="0">
                <a:cs typeface="B Nazanin" panose="00000400000000000000" pitchFamily="2" charset="-78"/>
              </a:rPr>
              <a:t> STM32F103C8T6 </a:t>
            </a:r>
            <a:r>
              <a:rPr lang="ar-SA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— هسته </a:t>
            </a: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ARM Cortex-M</a:t>
            </a:r>
            <a:r>
              <a:rPr lang="en-US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3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@ </a:t>
            </a:r>
            <a:r>
              <a:rPr lang="en-US" dirty="0">
                <a:cs typeface="B Nazanin" panose="00000400000000000000" pitchFamily="2" charset="-78"/>
              </a:rPr>
              <a:t>8MHz</a:t>
            </a:r>
            <a:r>
              <a:rPr lang="fa-IR" dirty="0">
                <a:cs typeface="B Nazanin" panose="00000400000000000000" pitchFamily="2" charset="-78"/>
              </a:rPr>
              <a:t> | </a:t>
            </a:r>
            <a:r>
              <a:rPr lang="en-US" dirty="0">
                <a:cs typeface="B Nazanin" panose="00000400000000000000" pitchFamily="2" charset="-78"/>
              </a:rPr>
              <a:t>Flash 64KB | ADC 12-bit</a:t>
            </a:r>
            <a:r>
              <a:rPr lang="fa-IR" dirty="0">
                <a:cs typeface="B Nazanin" panose="00000400000000000000" pitchFamily="2" charset="-78"/>
              </a:rPr>
              <a:t> داخلی</a:t>
            </a:r>
            <a:endParaRPr lang="en-US" dirty="0">
              <a:cs typeface="B Nazanin" panose="00000400000000000000" pitchFamily="2" charset="-78"/>
            </a:endParaRPr>
          </a:p>
          <a:p>
            <a:pPr algn="r" rtl="1">
              <a:lnSpc>
                <a:spcPct val="127000"/>
              </a:lnSpc>
            </a:pPr>
            <a:endParaRPr lang="fa-IR" sz="1600" dirty="0"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1856085"/>
            <a:ext cx="1086874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6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➡️</a:t>
            </a:r>
            <a:r>
              <a:rPr lang="fa-IR" alt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 خروجی‌ها (Outputs)</a:t>
            </a:r>
            <a:endParaRPr lang="fa-IR" sz="1600" dirty="0">
              <a:cs typeface="B Nazanin" panose="00000400000000000000" pitchFamily="2" charset="-78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6633" y="2289473"/>
            <a:ext cx="3533587" cy="11813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64507" y="2457351"/>
            <a:ext cx="312164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نمایشگر LCD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7" name="Text 4"/>
          <p:cNvSpPr/>
          <p:nvPr/>
        </p:nvSpPr>
        <p:spPr>
          <a:xfrm>
            <a:off x="8164507" y="2770188"/>
            <a:ext cx="3121641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27000"/>
              </a:lnSpc>
              <a:buNone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پورت </a:t>
            </a: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D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— نمایش وضعیت لحظه‌ای سیستم</a:t>
            </a:r>
            <a:endParaRPr lang="fa-IR" sz="1400" dirty="0">
              <a:cs typeface="B Nazanin" panose="00000400000000000000" pitchFamily="2" charset="-78"/>
            </a:endParaRPr>
          </a:p>
          <a:p>
            <a:pPr marL="0" indent="0" algn="r" rtl="1">
              <a:lnSpc>
                <a:spcPct val="127000"/>
              </a:lnSpc>
              <a:buNone/>
            </a:pPr>
            <a:r>
              <a:rPr lang="ar-SA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نشان‌دهنده حالت فعال </a:t>
            </a: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FSM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و مقادیر سنسور</a:t>
            </a:r>
            <a:endParaRPr lang="fa-IR" sz="1400" dirty="0">
              <a:cs typeface="B Nazanin" panose="00000400000000000000" pitchFamily="2" charset="-78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9103" y="2289473"/>
            <a:ext cx="3533587" cy="11813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96977" y="2457351"/>
            <a:ext cx="312164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شیر برقی گاز — Servo</a:t>
            </a:r>
            <a:endParaRPr lang="fa-IR" sz="1600" dirty="0">
              <a:cs typeface="B Nazanin" panose="00000400000000000000" pitchFamily="2" charset="-78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496977" y="2770188"/>
            <a:ext cx="3121641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27000"/>
              </a:lnSpc>
              <a:buNone/>
            </a:pP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پایه </a:t>
            </a:r>
            <a:r>
              <a:rPr lang="fa-IR" alt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PA</a:t>
            </a:r>
            <a:r>
              <a:rPr lang="en-US" alt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6</a:t>
            </a: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— </a:t>
            </a:r>
            <a:r>
              <a:rPr lang="fa-IR" alt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Timer</a:t>
            </a:r>
            <a:r>
              <a:rPr lang="en-US" alt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3</a:t>
            </a: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— سیگنال </a:t>
            </a:r>
            <a:r>
              <a:rPr lang="fa-IR" alt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PWM  </a:t>
            </a:r>
            <a:r>
              <a:rPr lang="en-US" alt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50Hz</a:t>
            </a:r>
            <a:endParaRPr lang="fa-IR" sz="1200" dirty="0">
              <a:cs typeface="B Nazanin" panose="00000400000000000000" pitchFamily="2" charset="-78"/>
            </a:endParaRPr>
          </a:p>
          <a:p>
            <a:pPr algn="r" rtl="1">
              <a:lnSpc>
                <a:spcPct val="127000"/>
              </a:lnSpc>
            </a:pP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باز (</a:t>
            </a:r>
            <a:r>
              <a:rPr lang="en-US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0°</a:t>
            </a: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) یا بسته </a:t>
            </a:r>
            <a:r>
              <a:rPr lang="fa-IR" altLang="en-US" dirty="0">
                <a:cs typeface="B Nazanin" panose="00000400000000000000" pitchFamily="2" charset="-78"/>
              </a:rPr>
              <a:t>(</a:t>
            </a:r>
            <a:r>
              <a:rPr lang="en-US" altLang="en-US" sz="1200" dirty="0">
                <a:cs typeface="B Nazanin" panose="00000400000000000000" pitchFamily="2" charset="-78"/>
              </a:rPr>
              <a:t>90°</a:t>
            </a:r>
            <a:r>
              <a:rPr lang="fa-IR" altLang="en-US" dirty="0">
                <a:cs typeface="B Nazanin" panose="00000400000000000000" pitchFamily="2" charset="-78"/>
              </a:rPr>
              <a:t>)</a:t>
            </a: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بر اساس حالت سیستم</a:t>
            </a:r>
            <a:endParaRPr lang="fa-IR" sz="1200" dirty="0">
              <a:cs typeface="B Nazanin" panose="00000400000000000000" pitchFamily="2" charset="-78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574" y="2289473"/>
            <a:ext cx="3533587" cy="11813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9448" y="2457351"/>
            <a:ext cx="312164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پمپ آب — DC Motor</a:t>
            </a:r>
            <a:endParaRPr lang="fa-IR" sz="1600" dirty="0">
              <a:cs typeface="B Nazanin" panose="00000400000000000000" pitchFamily="2" charset="-78"/>
            </a:endParaRPr>
          </a:p>
        </p:txBody>
      </p:sp>
      <p:sp>
        <p:nvSpPr>
          <p:cNvPr id="13" name="Text 8"/>
          <p:cNvSpPr/>
          <p:nvPr/>
        </p:nvSpPr>
        <p:spPr>
          <a:xfrm>
            <a:off x="829448" y="2770188"/>
            <a:ext cx="3121641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27000"/>
              </a:lnSpc>
              <a:buNone/>
            </a:pP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پایه </a:t>
            </a:r>
            <a:r>
              <a:rPr lang="fa-IR" alt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PA</a:t>
            </a:r>
            <a:r>
              <a:rPr lang="en-US" alt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15</a:t>
            </a: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— </a:t>
            </a:r>
            <a:r>
              <a:rPr lang="fa-IR" alt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Timer</a:t>
            </a:r>
            <a:r>
              <a:rPr lang="en-US" alt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2</a:t>
            </a: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— </a:t>
            </a:r>
            <a:r>
              <a:rPr lang="fa-IR" alt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Duty Cycle</a:t>
            </a: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متغیر</a:t>
            </a:r>
            <a:endParaRPr lang="fa-IR" sz="1200" dirty="0">
              <a:cs typeface="B Nazanin" panose="00000400000000000000" pitchFamily="2" charset="-78"/>
            </a:endParaRPr>
          </a:p>
          <a:p>
            <a:pPr marL="0" indent="0" algn="r" rtl="1">
              <a:lnSpc>
                <a:spcPct val="127000"/>
              </a:lnSpc>
              <a:buNone/>
            </a:pP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خاموش (</a:t>
            </a:r>
            <a:r>
              <a:rPr lang="en-US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0%</a:t>
            </a: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) یا حداکثر توان (</a:t>
            </a:r>
            <a:r>
              <a:rPr lang="en-US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100%</a:t>
            </a: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) در حریق</a:t>
            </a:r>
            <a:endParaRPr lang="fa-IR" sz="1200" dirty="0">
              <a:cs typeface="B Nazanin" panose="00000400000000000000" pitchFamily="2" charset="-78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61475" y="3671788"/>
            <a:ext cx="1086874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6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⬅️</a:t>
            </a:r>
            <a:r>
              <a:rPr lang="fa-IR" alt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 ورودی‌ها (Inputs)</a:t>
            </a:r>
            <a:endParaRPr lang="fa-IR" sz="1600" dirty="0">
              <a:cs typeface="B Nazanin" panose="00000400000000000000" pitchFamily="2" charset="-78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6633" y="4105176"/>
            <a:ext cx="3533587" cy="118139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164507" y="4273054"/>
            <a:ext cx="312164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ar-SA" alt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سنسور دما</a:t>
            </a:r>
            <a:r>
              <a:rPr lang="en-US" alt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 </a:t>
            </a:r>
            <a:r>
              <a:rPr lang="fa-IR" alt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 </a:t>
            </a:r>
            <a:r>
              <a:rPr lang="en-US" alt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LM35</a:t>
            </a:r>
            <a:endParaRPr lang="ar-SA" sz="1600" dirty="0">
              <a:cs typeface="B Nazanin" panose="00000400000000000000" pitchFamily="2" charset="-78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164507" y="4585891"/>
            <a:ext cx="3121641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27000"/>
              </a:lnSpc>
              <a:buNone/>
            </a:pP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پایه </a:t>
            </a:r>
            <a:r>
              <a:rPr lang="fa-IR" alt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PA</a:t>
            </a:r>
            <a:r>
              <a:rPr lang="en-US" alt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0</a:t>
            </a: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— کانال </a:t>
            </a:r>
            <a:r>
              <a:rPr lang="fa-IR" alt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ADC</a:t>
            </a:r>
            <a:r>
              <a:rPr lang="ar-SA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شماره </a:t>
            </a:r>
            <a:r>
              <a:rPr lang="en-US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0</a:t>
            </a:r>
          </a:p>
          <a:p>
            <a:pPr algn="r" rtl="1"/>
            <a:r>
              <a:rPr lang="fa-IR" sz="1400" dirty="0">
                <a:cs typeface="B Nazanin" panose="00000400000000000000" pitchFamily="2" charset="-78"/>
              </a:rPr>
              <a:t>خروجی آنالوگ: </a:t>
            </a:r>
            <a:r>
              <a:rPr lang="en-US" sz="1400" dirty="0">
                <a:cs typeface="B Nazanin" panose="00000400000000000000" pitchFamily="2" charset="-78"/>
              </a:rPr>
              <a:t>10mV/°C</a:t>
            </a:r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9103" y="4105176"/>
            <a:ext cx="3533587" cy="118139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496977" y="4273054"/>
            <a:ext cx="312164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سنسور گاز (پتانسیومتر)</a:t>
            </a:r>
            <a:endParaRPr lang="fa-IR" sz="1600" dirty="0">
              <a:cs typeface="B Nazanin" panose="00000400000000000000" pitchFamily="2" charset="-78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4496977" y="4585891"/>
            <a:ext cx="3121641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27000"/>
              </a:lnSpc>
              <a:buNone/>
            </a:pP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پایه </a:t>
            </a:r>
            <a:r>
              <a:rPr lang="fa-IR" alt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PA</a:t>
            </a:r>
            <a:r>
              <a:rPr lang="en-US" alt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1</a:t>
            </a: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— کانال </a:t>
            </a:r>
            <a:r>
              <a:rPr lang="fa-IR" alt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ADC</a:t>
            </a:r>
            <a:r>
              <a:rPr lang="ar-SA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شماره</a:t>
            </a:r>
            <a:r>
              <a:rPr lang="en-US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1</a:t>
            </a:r>
            <a:endParaRPr lang="fa-IR" sz="1200" dirty="0">
              <a:cs typeface="B Nazanin" panose="00000400000000000000" pitchFamily="2" charset="-78"/>
            </a:endParaRPr>
          </a:p>
          <a:p>
            <a:pPr marL="0" indent="0" algn="r" rtl="1">
              <a:lnSpc>
                <a:spcPct val="127000"/>
              </a:lnSpc>
              <a:buNone/>
            </a:pP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شبیه‌سازی غلظت گاز در محیط آزمایشگاه</a:t>
            </a:r>
            <a:endParaRPr lang="fa-IR" sz="1200" dirty="0">
              <a:cs typeface="B Nazanin" panose="00000400000000000000" pitchFamily="2" charset="-78"/>
            </a:endParaRPr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574" y="4105176"/>
            <a:ext cx="3533587" cy="118139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29448" y="4273054"/>
            <a:ext cx="312164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کیپد </a:t>
            </a:r>
            <a:r>
              <a:rPr lang="en-US" alt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4×4</a:t>
            </a:r>
            <a:endParaRPr lang="fa-IR" sz="1600" dirty="0">
              <a:cs typeface="B Nazanin" panose="00000400000000000000" pitchFamily="2" charset="-78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829448" y="4585891"/>
            <a:ext cx="3121641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27000"/>
              </a:lnSpc>
              <a:buNone/>
            </a:pP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پورت </a:t>
            </a:r>
            <a:r>
              <a:rPr lang="fa-IR" alt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B</a:t>
            </a: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— پیکربندی </a:t>
            </a:r>
            <a:r>
              <a:rPr lang="fa-IR" alt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GPIO</a:t>
            </a: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ورودی/خروجی</a:t>
            </a:r>
            <a:endParaRPr lang="fa-IR" sz="1200" dirty="0">
              <a:cs typeface="B Nazanin" panose="00000400000000000000" pitchFamily="2" charset="-78"/>
            </a:endParaRPr>
          </a:p>
          <a:p>
            <a:pPr marL="0" indent="0" algn="r" rtl="1">
              <a:lnSpc>
                <a:spcPct val="127000"/>
              </a:lnSpc>
              <a:buNone/>
            </a:pP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تأیید رفع خطر و بازگشت به حالت </a:t>
            </a:r>
            <a:r>
              <a:rPr lang="fa-IR" alt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NORMAL</a:t>
            </a:r>
            <a:endParaRPr lang="fa-IR" sz="1200" dirty="0">
              <a:cs typeface="B Nazanin" panose="00000400000000000000" pitchFamily="2" charset="-78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661475" y="5437287"/>
            <a:ext cx="10868745" cy="781348"/>
          </a:xfrm>
          <a:prstGeom prst="roundRect">
            <a:avLst>
              <a:gd name="adj" fmla="val 8001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99" y="5645448"/>
            <a:ext cx="186031" cy="14882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145154" y="5608439"/>
            <a:ext cx="10236242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27000"/>
              </a:lnSpc>
              <a:buNone/>
            </a:pPr>
            <a:r>
              <a:rPr lang="fa-IR" alt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معماری تایمرهای مستقل (</a:t>
            </a:r>
            <a:r>
              <a:rPr lang="fa-IR" alt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Timer </a:t>
            </a:r>
            <a:r>
              <a:rPr lang="en-US" alt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2</a:t>
            </a:r>
            <a:r>
              <a:rPr lang="ar-SA" alt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و </a:t>
            </a:r>
            <a:r>
              <a:rPr lang="fa-IR" alt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Timer</a:t>
            </a:r>
            <a:r>
              <a:rPr lang="en-US" alt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3</a:t>
            </a:r>
            <a:r>
              <a:rPr lang="fa-IR" alt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) تضمین می‌کند که تولید سیگنال </a:t>
            </a:r>
            <a:r>
              <a:rPr lang="fa-IR" alt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PWM</a:t>
            </a:r>
            <a:r>
              <a:rPr lang="fa-IR" alt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کاملاً توسط سخت‌افزار انجام شده و هیچ باری بر </a:t>
            </a:r>
            <a:r>
              <a:rPr lang="fa-IR" alt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CPU</a:t>
            </a:r>
            <a:r>
              <a:rPr lang="fa-IR" alt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تحمیل نمی‌شود — اصل محوری طراحی </a:t>
            </a:r>
            <a:r>
              <a:rPr lang="fa-IR" alt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Bare-Metal Real-Time</a:t>
            </a:r>
            <a:r>
              <a:rPr lang="fa-IR" alt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.</a:t>
            </a:r>
            <a:endParaRPr lang="fa-IR" sz="1200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1686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دقت در تشخیص خطر</a:t>
            </a:r>
            <a:endParaRPr lang="fa-IR" sz="3600" dirty="0"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335683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کالیبراسیون سنسور دما (</a:t>
            </a:r>
            <a:r>
              <a:rPr lang="en-US" altLang="en-US" sz="15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LM35</a:t>
            </a:r>
            <a:r>
              <a:rPr lang="fa-IR" alt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)</a:t>
            </a:r>
            <a:endParaRPr lang="fa-IR" sz="1500" b="1" dirty="0"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1730474"/>
            <a:ext cx="5242687" cy="1137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r" rtl="1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خروجی آنالوگ: به ازای هر </a:t>
            </a:r>
            <a:r>
              <a:rPr lang="fa-IR" altLang="en-US" sz="1400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°C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</a:t>
            </a:r>
            <a:r>
              <a:rPr lang="en-US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1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دقیقاً </a:t>
            </a:r>
            <a:r>
              <a:rPr lang="en-US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10 </a:t>
            </a:r>
            <a:r>
              <a:rPr lang="fa-IR" altLang="en-US" sz="1400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mV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ولتاژ تولید می‌شود</a:t>
            </a:r>
          </a:p>
          <a:p>
            <a:pPr marL="285750" indent="-285750" algn="r" rtl="1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fa-IR" sz="1400" dirty="0">
                <a:cs typeface="B Nazanin" panose="00000400000000000000" pitchFamily="2" charset="-78"/>
              </a:rPr>
              <a:t>فرمول تبدیل: </a:t>
            </a:r>
            <a:r>
              <a:rPr lang="en-US" sz="1400" dirty="0">
                <a:cs typeface="B Nazanin" panose="00000400000000000000" pitchFamily="2" charset="-78"/>
              </a:rPr>
              <a:t>Temp (°C) = </a:t>
            </a:r>
            <a:r>
              <a:rPr lang="en-US" sz="1400" dirty="0" err="1">
                <a:cs typeface="B Nazanin" panose="00000400000000000000" pitchFamily="2" charset="-78"/>
              </a:rPr>
              <a:t>ADC_Value</a:t>
            </a:r>
            <a:r>
              <a:rPr lang="en-US" sz="1400" dirty="0">
                <a:cs typeface="B Nazanin" panose="00000400000000000000" pitchFamily="2" charset="-78"/>
              </a:rPr>
              <a:t> × (3300mV / 4096)</a:t>
            </a:r>
            <a:r>
              <a:rPr lang="fa-IR" sz="1400" dirty="0">
                <a:cs typeface="B Nazanin" panose="00000400000000000000" pitchFamily="2" charset="-78"/>
              </a:rPr>
              <a:t> / 10</a:t>
            </a:r>
            <a:endParaRPr lang="en-US" sz="1400" dirty="0">
              <a:cs typeface="B Nazanin" panose="00000400000000000000" pitchFamily="2" charset="-78"/>
            </a:endParaRPr>
          </a:p>
          <a:p>
            <a:pPr marL="285750" indent="-285750" algn="r" rtl="1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آستانه حریق: </a:t>
            </a:r>
            <a:r>
              <a:rPr lang="fa-IR" altLang="en-US" sz="1400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°C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</a:t>
            </a:r>
            <a:r>
              <a:rPr lang="en-US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60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معادل مقدار دیجیتال </a:t>
            </a:r>
            <a:r>
              <a:rPr lang="fa-IR" altLang="en-US" sz="1400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ADC = </a:t>
            </a:r>
            <a:r>
              <a:rPr lang="en-US" altLang="en-US" sz="1400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491</a:t>
            </a:r>
            <a:r>
              <a:rPr lang="fa-IR" altLang="en-US" sz="1400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 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در مبدل </a:t>
            </a:r>
            <a:r>
              <a:rPr lang="en-US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12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بیتی</a:t>
            </a:r>
            <a:endParaRPr lang="fa-IR" sz="1400" dirty="0">
              <a:cs typeface="B Nazanin" panose="00000400000000000000" pitchFamily="2" charset="-78"/>
            </a:endParaRPr>
          </a:p>
          <a:p>
            <a:pPr marL="285750" indent="-285750" algn="r" rtl="1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دقت تفکیک: هر واحد </a:t>
            </a:r>
            <a:r>
              <a:rPr lang="fa-IR" altLang="en-US" sz="1400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ADC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</a:t>
            </a:r>
            <a:r>
              <a:rPr lang="fa-IR" sz="1400" dirty="0">
                <a:cs typeface="B Nazanin" panose="00000400000000000000" pitchFamily="2" charset="-78"/>
              </a:rPr>
              <a:t>معادل</a:t>
            </a:r>
            <a:r>
              <a:rPr lang="en-US" sz="1400" dirty="0">
                <a:cs typeface="B Nazanin" panose="00000400000000000000" pitchFamily="2" charset="-78"/>
              </a:rPr>
              <a:t>0.8℃ </a:t>
            </a:r>
            <a:r>
              <a:rPr lang="fa-IR" sz="1400" dirty="0">
                <a:cs typeface="B Nazanin" panose="00000400000000000000" pitchFamily="2" charset="-78"/>
              </a:rPr>
              <a:t> تغییر دما</a:t>
            </a:r>
            <a:endParaRPr lang="en-US" sz="1400" dirty="0">
              <a:cs typeface="B Nazanin" panose="00000400000000000000" pitchFamily="2" charset="-78"/>
            </a:endParaRPr>
          </a:p>
          <a:p>
            <a:pPr marL="285750" indent="-285750" algn="r" rtl="1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5" name="Text 3"/>
          <p:cNvSpPr/>
          <p:nvPr/>
        </p:nvSpPr>
        <p:spPr>
          <a:xfrm>
            <a:off x="661475" y="3016945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کالیبراسیون سنسور گاز</a:t>
            </a:r>
            <a:endParaRPr lang="fa-IR" sz="1500" dirty="0">
              <a:cs typeface="B Nazanin" panose="00000400000000000000" pitchFamily="2" charset="-78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1475" y="3411736"/>
            <a:ext cx="5242687" cy="83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r" rtl="1">
              <a:lnSpc>
                <a:spcPct val="130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شبیه‌سازی با پتانسیومتر برای تست و اعتبارسنجی در محیط آزمایشگاهی</a:t>
            </a:r>
            <a:endParaRPr lang="fa-IR" sz="1400" dirty="0">
              <a:cs typeface="B Nazanin" panose="00000400000000000000" pitchFamily="2" charset="-78"/>
            </a:endParaRPr>
          </a:p>
          <a:p>
            <a:pPr marL="243840" indent="-243840" algn="r" rtl="1">
              <a:lnSpc>
                <a:spcPct val="130000"/>
              </a:lnSpc>
              <a:buSzPct val="100000"/>
              <a:buChar char="•"/>
            </a:pPr>
            <a:r>
              <a:rPr lang="ar-SA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آستانه نشت: </a:t>
            </a:r>
            <a:r>
              <a:rPr lang="en-US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20%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از مقیاس کامل معادل مقدار دیجیتال </a:t>
            </a: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ADC </a:t>
            </a:r>
            <a:r>
              <a:rPr lang="en-US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=</a:t>
            </a: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 </a:t>
            </a:r>
            <a:r>
              <a:rPr lang="en-US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819</a:t>
            </a:r>
            <a:endParaRPr lang="fa-IR" sz="1400" dirty="0">
              <a:cs typeface="B Nazanin" panose="00000400000000000000" pitchFamily="2" charset="-78"/>
            </a:endParaRPr>
          </a:p>
          <a:p>
            <a:pPr marL="243840" indent="-243840" algn="r" rtl="1">
              <a:lnSpc>
                <a:spcPct val="130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هر دو کانال با نرخ نمونه‌برداری یکسان از طریق </a:t>
            </a: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ADC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داخلی خوانده می‌شوند</a:t>
            </a: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93883" y="1335683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مقایسه آستانه‌های ADC</a:t>
            </a:r>
            <a:endParaRPr lang="fa-IR" sz="1500" dirty="0">
              <a:cs typeface="B Nazanin" panose="00000400000000000000" pitchFamily="2" charset="-7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93883" y="1749127"/>
            <a:ext cx="5242687" cy="1826320"/>
          </a:xfrm>
          <a:prstGeom prst="roundRect">
            <a:avLst>
              <a:gd name="adj" fmla="val 361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93883" y="2440682"/>
            <a:ext cx="5242687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93883" y="2883892"/>
            <a:ext cx="5242687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869338" y="1749127"/>
            <a:ext cx="9820" cy="18263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76810" y="1749127"/>
            <a:ext cx="9820" cy="18263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484282" y="1749127"/>
            <a:ext cx="9820" cy="18263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00431" y="1755477"/>
            <a:ext cx="1568907" cy="685205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00431" y="1755476"/>
            <a:ext cx="1544697" cy="6655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سنسور</a:t>
            </a:r>
            <a:endParaRPr lang="ar-SA" sz="1400" dirty="0">
              <a:cs typeface="B Nazanin" panose="00000400000000000000" pitchFamily="2" charset="-7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869338" y="1755477"/>
            <a:ext cx="1307472" cy="685205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869338" y="1781471"/>
            <a:ext cx="1317291" cy="6395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fa-IR" alt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حالت عادی (ADC)</a:t>
            </a: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176810" y="1755477"/>
            <a:ext cx="1307472" cy="685205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76810" y="1781471"/>
            <a:ext cx="1307471" cy="6493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آستانه خطر (ADC)</a:t>
            </a:r>
            <a:endParaRPr lang="ar-SA" sz="1400" dirty="0">
              <a:cs typeface="B Nazanin" panose="00000400000000000000" pitchFamily="2" charset="-7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484282" y="1755477"/>
            <a:ext cx="1045938" cy="685205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484280" y="1781471"/>
            <a:ext cx="1045937" cy="6395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fa-IR" alt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مقدار فیزیکی</a:t>
            </a: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00430" y="2450502"/>
            <a:ext cx="1578727" cy="433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ar-SA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دما (</a:t>
            </a:r>
            <a:r>
              <a:rPr lang="en-US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LM35</a:t>
            </a:r>
            <a:r>
              <a:rPr lang="ar-SA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)</a:t>
            </a:r>
            <a:endParaRPr lang="ar-SA" sz="1400" dirty="0">
              <a:cs typeface="B Nazanin" panose="00000400000000000000" pitchFamily="2" charset="-7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869338" y="2450502"/>
            <a:ext cx="1307470" cy="433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&lt; 491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166988" y="2440682"/>
            <a:ext cx="1317292" cy="443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491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494103" y="2430862"/>
            <a:ext cx="1042467" cy="449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60°C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00430" y="2893712"/>
            <a:ext cx="1568908" cy="688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گاز (پتانسیومتر)</a:t>
            </a: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845128" y="2883892"/>
            <a:ext cx="1321861" cy="697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&lt; 819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66987" y="2893712"/>
            <a:ext cx="1321861" cy="659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819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494103" y="2887362"/>
            <a:ext cx="1049014" cy="682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20% Full Scale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293883" y="3743325"/>
            <a:ext cx="5242687" cy="837406"/>
          </a:xfrm>
          <a:prstGeom prst="roundRect">
            <a:avLst>
              <a:gd name="adj" fmla="val 7880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fa-IR">
              <a:cs typeface="B Nazanin" panose="00000400000000000000" pitchFamily="2" charset="-78"/>
            </a:endParaRPr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943" y="3973513"/>
            <a:ext cx="196349" cy="157063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804351" y="3916859"/>
            <a:ext cx="4575160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rtl="1"/>
            <a:r>
              <a:rPr lang="fa-IR" sz="1300" dirty="0"/>
              <a:t>فرمول محاسبه </a:t>
            </a:r>
            <a:r>
              <a:rPr lang="en-US" sz="1300" dirty="0"/>
              <a:t>ADC</a:t>
            </a:r>
            <a:r>
              <a:rPr lang="fa-IR" sz="1300" dirty="0"/>
              <a:t> برای دما: </a:t>
            </a:r>
            <a:r>
              <a:rPr lang="fa-IR" sz="1300" b="1" dirty="0"/>
              <a:t>491 = 60 × </a:t>
            </a:r>
            <a:r>
              <a:rPr lang="en-US" sz="1300" b="1" dirty="0"/>
              <a:t>5000mV</a:t>
            </a:r>
            <a:r>
              <a:rPr lang="fa-IR" sz="1300" b="1" dirty="0"/>
              <a:t> </a:t>
            </a:r>
            <a:r>
              <a:rPr lang="en-US" sz="1300" b="1" dirty="0"/>
              <a:t>/</a:t>
            </a:r>
            <a:r>
              <a:rPr lang="fa-IR" sz="1300" b="1" dirty="0"/>
              <a:t> </a:t>
            </a:r>
            <a:r>
              <a:rPr lang="en-US" sz="1300" b="1" dirty="0"/>
              <a:t> 4091</a:t>
            </a:r>
            <a:r>
              <a:rPr lang="fa-IR" sz="1300" b="1" dirty="0"/>
              <a:t> × </a:t>
            </a:r>
            <a:r>
              <a:rPr lang="en-US" sz="1300" b="1" dirty="0"/>
              <a:t>10mV</a:t>
            </a:r>
            <a:r>
              <a:rPr lang="fa-IR" sz="1300" b="1" dirty="0"/>
              <a:t> </a:t>
            </a:r>
            <a:r>
              <a:rPr lang="fa-IR" sz="1300" dirty="0"/>
              <a:t> (دقت 12 بیتی تضمین‌کننده تشخیص تغییرات کوچک‌تر از </a:t>
            </a:r>
            <a:r>
              <a:rPr lang="en-US" sz="1300" dirty="0"/>
              <a:t>1℃ </a:t>
            </a:r>
            <a:r>
              <a:rPr lang="fa-IR" sz="1300" dirty="0"/>
              <a:t> است.)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48984" y="4994970"/>
            <a:ext cx="3323547" cy="62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12%</a:t>
            </a:r>
            <a:endParaRPr lang="en-US" sz="4850" dirty="0">
              <a:cs typeface="B Nazanin" panose="00000400000000000000" pitchFamily="2" charset="-78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61475" y="5805984"/>
            <a:ext cx="349856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ADC 491 / 4096</a:t>
            </a:r>
            <a:endParaRPr lang="en-US" sz="1500" dirty="0">
              <a:cs typeface="B Nazanin" panose="00000400000000000000" pitchFamily="2" charset="-78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61475" y="6141045"/>
            <a:ext cx="349856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نسبت آستانه دما از بازه کامل — معادل</a:t>
            </a:r>
            <a:r>
              <a:rPr lang="en-US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60℃</a:t>
            </a:r>
            <a:endParaRPr lang="fa-IR" sz="1200" dirty="0">
              <a:cs typeface="B Nazanin" panose="00000400000000000000" pitchFamily="2" charset="-78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434074" y="4994970"/>
            <a:ext cx="3323547" cy="62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20%</a:t>
            </a:r>
            <a:endParaRPr lang="en-US" sz="4850" dirty="0">
              <a:cs typeface="B Nazanin" panose="00000400000000000000" pitchFamily="2" charset="-78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346565" y="5805984"/>
            <a:ext cx="349856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ADC 819 / 4096</a:t>
            </a:r>
            <a:endParaRPr lang="en-US" sz="1500" dirty="0">
              <a:cs typeface="B Nazanin" panose="00000400000000000000" pitchFamily="2" charset="-78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346565" y="6141045"/>
            <a:ext cx="349856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نسبت آستانه گاز از بازه کامل — آستانه نشت</a:t>
            </a:r>
            <a:endParaRPr lang="fa-IR" sz="1200" dirty="0">
              <a:cs typeface="B Nazanin" panose="00000400000000000000" pitchFamily="2" charset="-78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8119165" y="4994970"/>
            <a:ext cx="3323547" cy="62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0.8</a:t>
            </a:r>
            <a:endParaRPr lang="en-US" sz="4850" dirty="0">
              <a:cs typeface="B Nazanin" panose="00000400000000000000" pitchFamily="2" charset="-78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8031656" y="5805984"/>
            <a:ext cx="349856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fa-IR" alt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°C به ازای هر ADC</a:t>
            </a:r>
            <a:endParaRPr lang="fa-IR" sz="1500" dirty="0">
              <a:cs typeface="B Nazanin" panose="00000400000000000000" pitchFamily="2" charset="-78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8031656" y="6141045"/>
            <a:ext cx="349856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دقت تفکیک دمایی مبدل </a:t>
            </a:r>
            <a:r>
              <a:rPr lang="en-US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12</a:t>
            </a:r>
            <a:r>
              <a:rPr lang="fa-IR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بیتی با ولتاژ مرجع </a:t>
            </a:r>
            <a:r>
              <a:rPr lang="en-US" alt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3.3V</a:t>
            </a:r>
            <a:endParaRPr lang="fa-IR" sz="1200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050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3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مکانیزم‌های ایمنی بدون درگیر کردن پردازنده</a:t>
            </a:r>
            <a:endParaRPr lang="fa-IR" sz="3200" dirty="0">
              <a:cs typeface="B Nazanin" panose="00000400000000000000" pitchFamily="2" charset="-7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269" y="1241822"/>
            <a:ext cx="5469098" cy="1739801"/>
          </a:xfrm>
          <a:prstGeom prst="roundRect">
            <a:avLst>
              <a:gd name="adj" fmla="val 6502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705328" y="1391047"/>
            <a:ext cx="5154980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6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⚙️</a:t>
            </a:r>
            <a:r>
              <a:rPr lang="fa-IR" alt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 کنترل شیر برقی گاز (</a:t>
            </a:r>
            <a:r>
              <a:rPr lang="fa-IR" altLang="en-US" sz="160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B Nazanin" panose="00000400000000000000" pitchFamily="2" charset="-78"/>
              </a:rPr>
              <a:t>Servo Motor</a:t>
            </a:r>
            <a:r>
              <a:rPr lang="fa-IR" altLang="en-US" sz="1600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B Nazanin" panose="00000400000000000000" pitchFamily="2" charset="-78"/>
              </a:rPr>
              <a:t>)</a:t>
            </a:r>
            <a:endParaRPr lang="fa-IR" sz="1600" dirty="0">
              <a:cs typeface="B Nazanin" panose="00000400000000000000" pitchFamily="2" charset="-78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5328" y="1792188"/>
            <a:ext cx="5154980" cy="1137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r" rtl="1">
              <a:lnSpc>
                <a:spcPct val="130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تایمر: </a:t>
            </a:r>
            <a:r>
              <a:rPr lang="fa-IR" alt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Timer</a:t>
            </a:r>
            <a:r>
              <a:rPr lang="en-US" alt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3</a:t>
            </a:r>
            <a:r>
              <a:rPr lang="fa-IR" altLang="en-US" sz="1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</a:t>
            </a:r>
            <a:r>
              <a:rPr lang="fa-IR" alt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فرکانس </a:t>
            </a:r>
            <a:r>
              <a:rPr lang="fa-IR" alt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PWM</a:t>
            </a:r>
            <a:r>
              <a:rPr lang="ar-SA" alt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برابر </a:t>
            </a:r>
            <a:r>
              <a:rPr lang="en-US" alt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50Hz</a:t>
            </a:r>
            <a:r>
              <a:rPr lang="fa-IR" alt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</a:t>
            </a:r>
            <a:r>
              <a:rPr lang="ar-SA" alt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(دوره تناوب</a:t>
            </a:r>
            <a:r>
              <a:rPr lang="en-US" alt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20 ms</a:t>
            </a:r>
            <a:r>
              <a:rPr lang="ar-SA" alt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)</a:t>
            </a:r>
            <a:endParaRPr lang="fa-IR" sz="1400" dirty="0">
              <a:cs typeface="B Nazanin" panose="00000400000000000000" pitchFamily="2" charset="-78"/>
            </a:endParaRPr>
          </a:p>
          <a:p>
            <a:pPr marL="243840" indent="-243840" algn="r" rtl="1">
              <a:lnSpc>
                <a:spcPct val="130000"/>
              </a:lnSpc>
              <a:buSzPct val="100000"/>
              <a:buChar char="•"/>
            </a:pPr>
            <a:r>
              <a:rPr lang="fa-IR" alt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حالت ایمن (</a:t>
            </a:r>
            <a:r>
              <a:rPr lang="en-US" alt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0°</a:t>
            </a:r>
            <a:r>
              <a:rPr lang="fa-IR" alt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):</a:t>
            </a:r>
            <a:r>
              <a:rPr lang="fa-IR" alt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پالس </a:t>
            </a:r>
            <a:r>
              <a:rPr lang="en-US" alt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1 ms</a:t>
            </a:r>
            <a:r>
              <a:rPr lang="fa-IR" alt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 شیر کاملاً باز، جریان گاز برقرار</a:t>
            </a:r>
            <a:endParaRPr lang="fa-IR" sz="1400" dirty="0">
              <a:cs typeface="B Nazanin" panose="00000400000000000000" pitchFamily="2" charset="-78"/>
            </a:endParaRPr>
          </a:p>
          <a:p>
            <a:pPr marL="243840" indent="-243840" algn="r" rtl="1">
              <a:lnSpc>
                <a:spcPct val="130000"/>
              </a:lnSpc>
              <a:buSzPct val="100000"/>
              <a:buChar char="•"/>
            </a:pPr>
            <a:r>
              <a:rPr lang="ar-SA" alt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حالت خطر (</a:t>
            </a:r>
            <a:r>
              <a:rPr lang="en-US" alt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90°</a:t>
            </a:r>
            <a:r>
              <a:rPr lang="ar-SA" alt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):</a:t>
            </a:r>
            <a:r>
              <a:rPr lang="fa-IR" alt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پالس </a:t>
            </a:r>
            <a:r>
              <a:rPr lang="en-US" alt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2 ms</a:t>
            </a:r>
            <a:r>
              <a:rPr lang="fa-IR" alt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 شیر کاملاً بسته، قطع فوری گاز</a:t>
            </a:r>
            <a:endParaRPr lang="fa-IR" sz="1400" dirty="0">
              <a:cs typeface="B Nazanin" panose="00000400000000000000" pitchFamily="2" charset="-78"/>
            </a:endParaRPr>
          </a:p>
          <a:p>
            <a:pPr marL="243840" indent="-243840" algn="r" rtl="1">
              <a:lnSpc>
                <a:spcPct val="130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تغییر زاویه بدون مداخله </a:t>
            </a:r>
            <a:r>
              <a:rPr lang="fa-IR" alt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CPU</a:t>
            </a:r>
            <a:r>
              <a:rPr lang="fa-IR" alt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از طریق سخت‌افزار تایمر انجام می‌شود</a:t>
            </a: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6" name="Text 4"/>
          <p:cNvSpPr/>
          <p:nvPr/>
        </p:nvSpPr>
        <p:spPr>
          <a:xfrm>
            <a:off x="6293883" y="1391047"/>
            <a:ext cx="5242687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6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💧</a:t>
            </a:r>
            <a:r>
              <a:rPr lang="fa-IR" alt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 کنترل پمپ آب (</a:t>
            </a:r>
            <a:r>
              <a:rPr lang="fa-IR" altLang="en-US" sz="160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B Nazanin" panose="00000400000000000000" pitchFamily="2" charset="-78"/>
              </a:rPr>
              <a:t>DC Motor</a:t>
            </a:r>
            <a:r>
              <a:rPr lang="fa-IR" altLang="en-US" sz="1600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B Nazanin" panose="00000400000000000000" pitchFamily="2" charset="-78"/>
              </a:rPr>
              <a:t>)</a:t>
            </a:r>
            <a:endParaRPr lang="fa-IR" sz="1600" dirty="0">
              <a:cs typeface="B Nazanin" panose="00000400000000000000" pitchFamily="2" charset="-78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93883" y="1792188"/>
            <a:ext cx="5242687" cy="1137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r" rtl="1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تایمر: </a:t>
            </a: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Timer</a:t>
            </a:r>
            <a:r>
              <a:rPr lang="en-US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2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(کنترل توان با تغییر </a:t>
            </a: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Duty Cycle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سیگنال </a:t>
            </a: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PWM</a:t>
            </a:r>
            <a:r>
              <a:rPr lang="fa-IR" altLang="en-US" sz="1400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)</a:t>
            </a:r>
            <a:endParaRPr lang="fa-IR" sz="1400" dirty="0">
              <a:cs typeface="B Nazanin" panose="00000400000000000000" pitchFamily="2" charset="-78"/>
            </a:endParaRPr>
          </a:p>
          <a:p>
            <a:pPr marL="285750" indent="-285750" algn="r" rtl="1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حالت عادی: </a:t>
            </a:r>
            <a:r>
              <a:rPr lang="en-US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Duty Cycle = 0% </a:t>
            </a: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  (پمپ خاموش)</a:t>
            </a:r>
          </a:p>
          <a:p>
            <a:pPr marL="285750" indent="-285750" algn="r" rtl="1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حالت حریق: </a:t>
            </a:r>
            <a:r>
              <a:rPr lang="en-US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Duty Cycle = 100%  </a:t>
            </a: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 (پمپ با حداکثر توان فعال)</a:t>
            </a:r>
          </a:p>
          <a:p>
            <a:pPr marL="285750" indent="-285750" algn="r" rtl="1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هر دو عملگر از طریق </a:t>
            </a: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GPIO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و تایمرهای مستقل کنترل می‌شوند</a:t>
            </a: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1475" y="3205460"/>
            <a:ext cx="1086874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جدول مقایسه پارامترهای PWM</a:t>
            </a:r>
            <a:endParaRPr lang="fa-IR" sz="1600" dirty="0">
              <a:cs typeface="B Nazanin" panose="00000400000000000000" pitchFamily="2" charset="-7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61475" y="3674864"/>
            <a:ext cx="10868745" cy="1335980"/>
          </a:xfrm>
          <a:prstGeom prst="roundRect">
            <a:avLst>
              <a:gd name="adj" fmla="val 4940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61475" y="4121249"/>
            <a:ext cx="10868745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61475" y="4564459"/>
            <a:ext cx="10868745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839272" y="3674864"/>
            <a:ext cx="9820" cy="133598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67609" y="3674864"/>
            <a:ext cx="9820" cy="133598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95947" y="3674864"/>
            <a:ext cx="9820" cy="133598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809909" y="3674864"/>
            <a:ext cx="9820" cy="133598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68122" y="3681214"/>
            <a:ext cx="2171150" cy="440035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fa-IR" sz="2000" dirty="0">
              <a:cs typeface="B Nazanin" panose="00000400000000000000" pitchFamily="2" charset="-7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7942" y="3697678"/>
            <a:ext cx="2151508" cy="426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fa-IR" alt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عملگر</a:t>
            </a: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839272" y="3681214"/>
            <a:ext cx="1628337" cy="440035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845919" y="3674864"/>
            <a:ext cx="1611870" cy="44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fa-IR" alt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تایمر</a:t>
            </a: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467609" y="3681214"/>
            <a:ext cx="1628337" cy="440035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pPr algn="ctr"/>
            <a:endParaRPr lang="fa-IR" sz="2000" dirty="0">
              <a:cs typeface="B Nazanin" panose="00000400000000000000" pitchFamily="2" charset="-7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67609" y="3687859"/>
            <a:ext cx="1618517" cy="4488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fa-IR" alt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فرکانس</a:t>
            </a: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095947" y="3681214"/>
            <a:ext cx="2713962" cy="440035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fa-IR" sz="2000" dirty="0">
              <a:cs typeface="B Nazanin" panose="00000400000000000000" pitchFamily="2" charset="-7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25408" y="3687859"/>
            <a:ext cx="2694320" cy="430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fa-IR" alt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حالت عادی</a:t>
            </a: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809909" y="3681214"/>
            <a:ext cx="2713962" cy="440035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800088" y="3687859"/>
            <a:ext cx="2694322" cy="4172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fa-IR" alt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حالت اضطراری</a:t>
            </a: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68122" y="4140885"/>
            <a:ext cx="2180969" cy="423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Servo 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(شیر گاز) </a:t>
            </a: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839272" y="4115585"/>
            <a:ext cx="1628337" cy="4488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Timer3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467609" y="4115585"/>
            <a:ext cx="1618517" cy="4488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50 Hz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086124" y="4131069"/>
            <a:ext cx="2704143" cy="4400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پالس 1ms / 0°</a:t>
            </a: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829550" y="4141887"/>
            <a:ext cx="2694321" cy="4225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پالس 2ms / 90°</a:t>
            </a: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51654" y="4557816"/>
            <a:ext cx="2177798" cy="463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DC Motor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(پمپ) </a:t>
            </a: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858914" y="4548975"/>
            <a:ext cx="1608696" cy="47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Timer2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477428" y="4580922"/>
            <a:ext cx="1608697" cy="4210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متغیر</a:t>
            </a: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05767" y="4551466"/>
            <a:ext cx="2723783" cy="47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Duty 0%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790267" y="4571103"/>
            <a:ext cx="2749773" cy="4365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Duty 100%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61475" y="5178723"/>
            <a:ext cx="3523368" cy="1152227"/>
          </a:xfrm>
          <a:prstGeom prst="roundRect">
            <a:avLst>
              <a:gd name="adj" fmla="val 572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24884" y="5342136"/>
            <a:ext cx="319655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Timer 3  Servo PWM</a:t>
            </a: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4884" y="5677198"/>
            <a:ext cx="3196550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دوره تناوب </a:t>
            </a:r>
            <a:r>
              <a:rPr lang="en-US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20 ms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 ثابت — تنها عرض پالس بین </a:t>
            </a:r>
            <a:r>
              <a:rPr lang="en-US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1ms</a:t>
            </a:r>
            <a:r>
              <a:rPr lang="ar-SA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و </a:t>
            </a:r>
            <a:r>
              <a:rPr lang="en-US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2ms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تغییر می‌کند</a:t>
            </a: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334064" y="5178723"/>
            <a:ext cx="3523467" cy="1152227"/>
          </a:xfrm>
          <a:prstGeom prst="roundRect">
            <a:avLst>
              <a:gd name="adj" fmla="val 572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497473" y="5342136"/>
            <a:ext cx="3196649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Timer 2  DC Motor PWM</a:t>
            </a: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497473" y="5677198"/>
            <a:ext cx="3196649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سوئیچ دیجیتال کامل: صفر تا صد درصد — بدون حالت میانی</a:t>
            </a: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006753" y="5178723"/>
            <a:ext cx="3523368" cy="1152227"/>
          </a:xfrm>
          <a:prstGeom prst="roundRect">
            <a:avLst>
              <a:gd name="adj" fmla="val 572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fa-IR" sz="2000">
              <a:cs typeface="B Nazanin" panose="00000400000000000000" pitchFamily="2" charset="-78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170162" y="5342136"/>
            <a:ext cx="319655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ar-SA" alt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استقلال از CPU</a:t>
            </a:r>
            <a:endParaRPr lang="ar-SA" sz="1600" dirty="0">
              <a:cs typeface="B Nazanin" panose="00000400000000000000" pitchFamily="2" charset="-78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170162" y="5677198"/>
            <a:ext cx="3196550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هر دو تایمر پس از پیکربندی اولیه کاملاً مستقل از </a:t>
            </a:r>
            <a:r>
              <a:rPr lang="fa-IR" alt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CPU</a:t>
            </a: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عمل می‌کنند</a:t>
            </a:r>
            <a:endParaRPr lang="fa-IR" sz="1400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4191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منطق کنترل و ماشین حالت متناهی</a:t>
            </a:r>
            <a:endParaRPr lang="fa-IR" sz="2400" dirty="0"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184771"/>
            <a:ext cx="58598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معماری </a:t>
            </a:r>
            <a:r>
              <a:rPr lang="fa-IR" altLang="en-US" sz="110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B Nazanin" panose="00000400000000000000" pitchFamily="2" charset="-78"/>
              </a:rPr>
              <a:t>FSM</a:t>
            </a:r>
            <a:r>
              <a:rPr lang="fa-IR" alt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 سه‌حالته — گذارها و شرایط</a:t>
            </a:r>
            <a:endParaRPr lang="fa-IR" sz="1100" dirty="0">
              <a:cs typeface="B Nazanin" panose="00000400000000000000" pitchFamily="2" charset="-78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31230"/>
            <a:ext cx="5859812" cy="64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5338" y="1652984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1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74026" y="1551384"/>
            <a:ext cx="522711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🔵</a:t>
            </a: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 NORMAL</a:t>
            </a:r>
            <a:endParaRPr lang="en-US" sz="1100" dirty="0">
              <a:cs typeface="B Nazanin" panose="00000400000000000000" pitchFamily="2" charset="-78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74026" y="1789113"/>
            <a:ext cx="5227110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fa-IR" alt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پایش مداوم هر دو کانال </a:t>
            </a:r>
            <a:r>
              <a:rPr lang="fa-IR" alt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ADC</a:t>
            </a:r>
            <a:r>
              <a:rPr lang="fa-IR" alt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— نمایش وضعیت روی </a:t>
            </a:r>
            <a:r>
              <a:rPr lang="fa-IR" alt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LCD</a:t>
            </a:r>
            <a:r>
              <a:rPr lang="fa-IR" alt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تمام عملگرها در حالت ایمن (</a:t>
            </a:r>
            <a:r>
              <a:rPr lang="en-US" alt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Servo = 0°</a:t>
            </a:r>
            <a:r>
              <a:rPr lang="fa-IR" alt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، </a:t>
            </a:r>
            <a:r>
              <a:rPr lang="en-US" alt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Motor = 0°</a:t>
            </a:r>
            <a:r>
              <a:rPr lang="fa-IR" alt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)</a:t>
            </a:r>
            <a:endParaRPr lang="fa-IR" sz="1000" dirty="0">
              <a:cs typeface="B Nazanin" panose="00000400000000000000" pitchFamily="2" charset="-78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66255"/>
            <a:ext cx="5859812" cy="6450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5338" y="2488008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2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174026" y="2386408"/>
            <a:ext cx="522711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🟠</a:t>
            </a: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 GAS_LEAK</a:t>
            </a:r>
            <a:endParaRPr lang="en-US" sz="1100" dirty="0">
              <a:cs typeface="B Nazanin" panose="00000400000000000000" pitchFamily="2" charset="-78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110427" y="2624137"/>
            <a:ext cx="5290709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ar-SA" alt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شرط: </a:t>
            </a:r>
            <a:r>
              <a:rPr lang="en-US" alt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</a:t>
            </a:r>
            <a:r>
              <a:rPr lang="en-US" altLang="en-US" sz="1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ADC_Gas</a:t>
            </a:r>
            <a:r>
              <a:rPr lang="en-US" alt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≥ 819  </a:t>
            </a:r>
            <a:r>
              <a:rPr lang="ar-SA" alt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فعال‌سازی آلارم صوتی، بستن شیر گاز (</a:t>
            </a:r>
            <a:r>
              <a:rPr lang="en-US" alt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Servo → 90°)، </a:t>
            </a:r>
            <a:r>
              <a:rPr lang="ar-SA" alt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نمایش هشدار روی </a:t>
            </a:r>
            <a:r>
              <a:rPr lang="en-US" alt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LCD</a:t>
            </a:r>
          </a:p>
          <a:p>
            <a:pPr marL="0" indent="0" algn="r" rtl="1">
              <a:lnSpc>
                <a:spcPct val="110000"/>
              </a:lnSpc>
              <a:buNone/>
            </a:pPr>
            <a:endParaRPr lang="en-US" altLang="en-US" sz="10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B Nazanin" panose="00000400000000000000" pitchFamily="2" charset="-78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75980"/>
            <a:ext cx="5859812" cy="6450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5338" y="3297734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3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174026" y="3196134"/>
            <a:ext cx="522711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🔴</a:t>
            </a: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 FIRE</a:t>
            </a:r>
            <a:endParaRPr lang="en-US" sz="1100" dirty="0">
              <a:cs typeface="B Nazanin" panose="00000400000000000000" pitchFamily="2" charset="-78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110427" y="3433862"/>
            <a:ext cx="5290709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ar-SA" alt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شرط: </a:t>
            </a:r>
            <a:r>
              <a:rPr lang="en-US" altLang="en-US" sz="1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ADC_Temp</a:t>
            </a:r>
            <a:r>
              <a:rPr lang="en-US" alt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≥ 491 </a:t>
            </a:r>
            <a:r>
              <a:rPr lang="ar-SA" alt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بالاترین اولویت — فعال‌سازی پمپ آب (</a:t>
            </a:r>
            <a:r>
              <a:rPr lang="en-US" alt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DC Motor → 100%) </a:t>
            </a:r>
            <a:r>
              <a:rPr lang="fa-IR" alt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</a:t>
            </a:r>
            <a:r>
              <a:rPr lang="ar-SA" alt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و بستن هم‌زمان شیر گاز</a:t>
            </a:r>
            <a:endParaRPr lang="fa-IR" sz="1000" dirty="0">
              <a:cs typeface="B Nazanin" panose="00000400000000000000" pitchFamily="2" charset="-78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6712377" y="1114921"/>
            <a:ext cx="4959524" cy="2606080"/>
          </a:xfrm>
          <a:prstGeom prst="roundRect">
            <a:avLst>
              <a:gd name="adj" fmla="val 7944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fa-IR" sz="2000" dirty="0"/>
          </a:p>
        </p:txBody>
      </p:sp>
      <p:sp>
        <p:nvSpPr>
          <p:cNvPr id="17" name="Text 12"/>
          <p:cNvSpPr/>
          <p:nvPr/>
        </p:nvSpPr>
        <p:spPr>
          <a:xfrm>
            <a:off x="6819829" y="1114920"/>
            <a:ext cx="4686580" cy="316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جدول گذارهای FSM</a:t>
            </a:r>
            <a:endParaRPr lang="fa-IR" sz="1100" dirty="0">
              <a:cs typeface="B Nazanin" panose="00000400000000000000" pitchFamily="2" charset="-78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6819829" y="1431230"/>
            <a:ext cx="4686580" cy="1229717"/>
          </a:xfrm>
          <a:prstGeom prst="roundRect">
            <a:avLst>
              <a:gd name="adj" fmla="val 3672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fa-IR" sz="2000"/>
          </a:p>
        </p:txBody>
      </p:sp>
      <p:sp>
        <p:nvSpPr>
          <p:cNvPr id="19" name="Shape 14"/>
          <p:cNvSpPr/>
          <p:nvPr/>
        </p:nvSpPr>
        <p:spPr>
          <a:xfrm>
            <a:off x="6819829" y="1679079"/>
            <a:ext cx="4686580" cy="671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a-IR" sz="2000"/>
          </a:p>
        </p:txBody>
      </p:sp>
      <p:sp>
        <p:nvSpPr>
          <p:cNvPr id="20" name="Shape 15"/>
          <p:cNvSpPr/>
          <p:nvPr/>
        </p:nvSpPr>
        <p:spPr>
          <a:xfrm>
            <a:off x="6819829" y="1923752"/>
            <a:ext cx="4686580" cy="671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a-IR" sz="2000"/>
          </a:p>
        </p:txBody>
      </p:sp>
      <p:sp>
        <p:nvSpPr>
          <p:cNvPr id="21" name="Shape 16"/>
          <p:cNvSpPr/>
          <p:nvPr/>
        </p:nvSpPr>
        <p:spPr>
          <a:xfrm>
            <a:off x="6819829" y="2168426"/>
            <a:ext cx="4686580" cy="671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a-IR" sz="2000"/>
          </a:p>
        </p:txBody>
      </p:sp>
      <p:sp>
        <p:nvSpPr>
          <p:cNvPr id="22" name="Shape 17"/>
          <p:cNvSpPr/>
          <p:nvPr/>
        </p:nvSpPr>
        <p:spPr>
          <a:xfrm>
            <a:off x="6819829" y="2413099"/>
            <a:ext cx="4686580" cy="671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a-IR" sz="2000"/>
          </a:p>
        </p:txBody>
      </p:sp>
      <p:sp>
        <p:nvSpPr>
          <p:cNvPr id="23" name="Shape 18"/>
          <p:cNvSpPr/>
          <p:nvPr/>
        </p:nvSpPr>
        <p:spPr>
          <a:xfrm>
            <a:off x="8384370" y="1431230"/>
            <a:ext cx="6719" cy="122971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a-IR" sz="2000"/>
          </a:p>
        </p:txBody>
      </p:sp>
      <p:sp>
        <p:nvSpPr>
          <p:cNvPr id="24" name="Shape 19"/>
          <p:cNvSpPr/>
          <p:nvPr/>
        </p:nvSpPr>
        <p:spPr>
          <a:xfrm>
            <a:off x="9941966" y="1431230"/>
            <a:ext cx="6719" cy="122971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a-IR" sz="2000"/>
          </a:p>
        </p:txBody>
      </p:sp>
      <p:sp>
        <p:nvSpPr>
          <p:cNvPr id="25" name="Shape 20"/>
          <p:cNvSpPr/>
          <p:nvPr/>
        </p:nvSpPr>
        <p:spPr>
          <a:xfrm>
            <a:off x="6826774" y="1437580"/>
            <a:ext cx="1557596" cy="241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endParaRPr lang="fa-IR" sz="2400">
              <a:solidFill>
                <a:srgbClr val="1B1B27"/>
              </a:solidFill>
              <a:latin typeface="Raleway" pitchFamily="34" charset="0"/>
              <a:cs typeface="B Nazanin" panose="00000400000000000000" pitchFamily="2" charset="-78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6819828" y="1437581"/>
            <a:ext cx="1544158" cy="2315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از حالت</a:t>
            </a:r>
            <a:endParaRPr lang="ar-SA" sz="900" dirty="0">
              <a:cs typeface="B Nazanin" panose="00000400000000000000" pitchFamily="2" charset="-78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8384241" y="1437581"/>
            <a:ext cx="1550877" cy="2383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به حالت</a:t>
            </a:r>
            <a:endParaRPr lang="ar-SA" sz="900" dirty="0">
              <a:cs typeface="B Nazanin" panose="00000400000000000000" pitchFamily="2" charset="-78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9955372" y="1437579"/>
            <a:ext cx="1530623" cy="2315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شرط</a:t>
            </a:r>
            <a:endParaRPr lang="ar-SA" sz="900" dirty="0">
              <a:cs typeface="B Nazanin" panose="00000400000000000000" pitchFamily="2" charset="-78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6826774" y="1689000"/>
            <a:ext cx="1564315" cy="234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NORMAL</a:t>
            </a:r>
            <a:endParaRPr lang="en-US" sz="900" dirty="0">
              <a:cs typeface="B Nazanin" panose="00000400000000000000" pitchFamily="2" charset="-78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8391090" y="1702440"/>
            <a:ext cx="1564282" cy="221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GAS_LEAK</a:t>
            </a:r>
            <a:endParaRPr lang="en-US" sz="900" dirty="0">
              <a:cs typeface="B Nazanin" panose="00000400000000000000" pitchFamily="2" charset="-78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9955372" y="1689000"/>
            <a:ext cx="1550873" cy="2280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ADC_Gas ≥ 819</a:t>
            </a:r>
            <a:endParaRPr lang="en-US" sz="900" dirty="0">
              <a:cs typeface="B Nazanin" panose="00000400000000000000" pitchFamily="2" charset="-78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6833493" y="1930996"/>
            <a:ext cx="1557596" cy="2342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NORMAL</a:t>
            </a:r>
            <a:endParaRPr lang="en-US" sz="900" dirty="0">
              <a:cs typeface="B Nazanin" panose="00000400000000000000" pitchFamily="2" charset="-78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8391091" y="1923752"/>
            <a:ext cx="1564282" cy="2342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FIRE</a:t>
            </a:r>
            <a:endParaRPr lang="en-US" sz="900" dirty="0">
              <a:cs typeface="B Nazanin" panose="00000400000000000000" pitchFamily="2" charset="-78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9941966" y="1940394"/>
            <a:ext cx="1564443" cy="228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ADC_Temp ≥ 491</a:t>
            </a:r>
            <a:endParaRPr lang="en-US" sz="900" dirty="0">
              <a:cs typeface="B Nazanin" panose="00000400000000000000" pitchFamily="2" charset="-78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6826774" y="2175145"/>
            <a:ext cx="1564319" cy="234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GAS_LEAK</a:t>
            </a:r>
            <a:endParaRPr lang="en-US" sz="900" dirty="0">
              <a:cs typeface="B Nazanin" panose="00000400000000000000" pitchFamily="2" charset="-78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8391092" y="2175145"/>
            <a:ext cx="1544026" cy="2347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FIRE</a:t>
            </a:r>
            <a:endParaRPr lang="en-US" sz="900" dirty="0">
              <a:cs typeface="B Nazanin" panose="00000400000000000000" pitchFamily="2" charset="-78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9941962" y="2168427"/>
            <a:ext cx="1564283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ADC_Temp ≥ 491</a:t>
            </a:r>
            <a:endParaRPr lang="en-US" sz="900" dirty="0">
              <a:cs typeface="B Nazanin" panose="00000400000000000000" pitchFamily="2" charset="-78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6819828" y="2431554"/>
            <a:ext cx="1564412" cy="222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ar-SA" alt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هر حالت</a:t>
            </a:r>
            <a:endParaRPr lang="ar-SA" sz="900" dirty="0">
              <a:cs typeface="B Nazanin" panose="00000400000000000000" pitchFamily="2" charset="-78"/>
            </a:endParaRPr>
          </a:p>
        </p:txBody>
      </p:sp>
      <p:sp>
        <p:nvSpPr>
          <p:cNvPr id="41" name="Text 36"/>
          <p:cNvSpPr/>
          <p:nvPr/>
        </p:nvSpPr>
        <p:spPr>
          <a:xfrm>
            <a:off x="8391093" y="2416645"/>
            <a:ext cx="1550874" cy="2375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NORMAL</a:t>
            </a:r>
            <a:endParaRPr lang="en-US" sz="900" dirty="0">
              <a:cs typeface="B Nazanin" panose="00000400000000000000" pitchFamily="2" charset="-78"/>
            </a:endParaRPr>
          </a:p>
        </p:txBody>
      </p:sp>
      <p:sp>
        <p:nvSpPr>
          <p:cNvPr id="42" name="Text 37"/>
          <p:cNvSpPr/>
          <p:nvPr/>
        </p:nvSpPr>
        <p:spPr>
          <a:xfrm>
            <a:off x="9948684" y="2416645"/>
            <a:ext cx="1557561" cy="2292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fa-IR" alt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رفع خطر + تأیید </a:t>
            </a:r>
            <a:r>
              <a:rPr lang="fa-IR" alt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Keypad</a:t>
            </a:r>
            <a:endParaRPr lang="fa-IR" sz="900" dirty="0">
              <a:cs typeface="B Nazanin" panose="00000400000000000000" pitchFamily="2" charset="-78"/>
            </a:endParaRPr>
          </a:p>
        </p:txBody>
      </p:sp>
      <p:sp>
        <p:nvSpPr>
          <p:cNvPr id="43" name="Text 38"/>
          <p:cNvSpPr/>
          <p:nvPr/>
        </p:nvSpPr>
        <p:spPr>
          <a:xfrm>
            <a:off x="6819829" y="2739529"/>
            <a:ext cx="468658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fa-IR" alt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ویژگی‌های کلیدی ISR</a:t>
            </a:r>
            <a:endParaRPr lang="fa-IR" sz="1100" dirty="0">
              <a:cs typeface="B Nazanin" panose="00000400000000000000" pitchFamily="2" charset="-78"/>
            </a:endParaRPr>
          </a:p>
        </p:txBody>
      </p:sp>
      <p:sp>
        <p:nvSpPr>
          <p:cNvPr id="44" name="Text 39"/>
          <p:cNvSpPr/>
          <p:nvPr/>
        </p:nvSpPr>
        <p:spPr>
          <a:xfrm>
            <a:off x="6819829" y="2977257"/>
            <a:ext cx="4686580" cy="640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r" rtl="1">
              <a:lnSpc>
                <a:spcPct val="110000"/>
              </a:lnSpc>
              <a:buSzPct val="100000"/>
              <a:buChar char="•"/>
            </a:pPr>
            <a:r>
              <a:rPr lang="fa-IR" alt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تمام گذارها از طریق </a:t>
            </a:r>
            <a:r>
              <a:rPr lang="fa-IR" alt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ISR</a:t>
            </a:r>
            <a:r>
              <a:rPr lang="fa-IR" alt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اجرا می‌شوند</a:t>
            </a:r>
            <a:endParaRPr lang="fa-IR" sz="900" dirty="0">
              <a:cs typeface="B Nazanin" panose="00000400000000000000" pitchFamily="2" charset="-78"/>
            </a:endParaRPr>
          </a:p>
          <a:p>
            <a:pPr marL="162560" indent="-162560" algn="r" rtl="1">
              <a:lnSpc>
                <a:spcPct val="110000"/>
              </a:lnSpc>
              <a:buSzPct val="100000"/>
              <a:buChar char="•"/>
            </a:pPr>
            <a:r>
              <a:rPr lang="fa-IR" alt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تأخیر قطعی زیر </a:t>
            </a:r>
            <a:r>
              <a:rPr lang="en-US" alt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1ms</a:t>
            </a:r>
            <a:r>
              <a:rPr lang="fa-IR" alt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تضمین‌شده</a:t>
            </a:r>
            <a:endParaRPr lang="fa-IR" sz="900" dirty="0">
              <a:cs typeface="B Nazanin" panose="00000400000000000000" pitchFamily="2" charset="-78"/>
            </a:endParaRPr>
          </a:p>
          <a:p>
            <a:pPr marL="162560" indent="-162560" algn="r" rtl="1">
              <a:lnSpc>
                <a:spcPct val="110000"/>
              </a:lnSpc>
              <a:buSzPct val="100000"/>
              <a:buChar char="•"/>
            </a:pPr>
            <a:r>
              <a:rPr lang="fa-IR" alt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اولویت </a:t>
            </a:r>
            <a:r>
              <a:rPr lang="fa-IR" alt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FIRE</a:t>
            </a:r>
            <a:r>
              <a:rPr lang="ar-SA" alt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بالاتر از </a:t>
            </a:r>
            <a:r>
              <a:rPr lang="fa-IR" alt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GAS_LEAK</a:t>
            </a:r>
            <a:r>
              <a:rPr lang="fa-IR" alt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در همه شرایط</a:t>
            </a:r>
            <a:endParaRPr lang="fa-IR" sz="900" dirty="0">
              <a:cs typeface="B Nazanin" panose="00000400000000000000" pitchFamily="2" charset="-78"/>
            </a:endParaRPr>
          </a:p>
          <a:p>
            <a:pPr marL="162560" indent="-162560" algn="r" rtl="1">
              <a:lnSpc>
                <a:spcPct val="110000"/>
              </a:lnSpc>
              <a:buSzPct val="100000"/>
              <a:buChar char="•"/>
            </a:pPr>
            <a:r>
              <a:rPr lang="fa-IR" alt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بازگشت به </a:t>
            </a:r>
            <a:r>
              <a:rPr lang="fa-IR" alt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NORMAL</a:t>
            </a:r>
            <a:r>
              <a:rPr lang="fa-IR" alt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نیازمند تأیید دستی از طریق </a:t>
            </a:r>
            <a:r>
              <a:rPr lang="fa-IR" alt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GPIO</a:t>
            </a:r>
            <a:endParaRPr lang="fa-IR" sz="900" dirty="0">
              <a:cs typeface="B Nazanin" panose="00000400000000000000" pitchFamily="2" charset="-78"/>
            </a:endParaRPr>
          </a:p>
        </p:txBody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2583" y="4043661"/>
            <a:ext cx="4149324" cy="2462709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6909131" y="5680237"/>
            <a:ext cx="1031432" cy="19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FIRE</a:t>
            </a:r>
            <a:endParaRPr lang="en-US" sz="1250" dirty="0">
              <a:cs typeface="B Nazanin" panose="00000400000000000000" pitchFamily="2" charset="-78"/>
            </a:endParaRPr>
          </a:p>
        </p:txBody>
      </p:sp>
      <p:sp>
        <p:nvSpPr>
          <p:cNvPr id="47" name="Text 41"/>
          <p:cNvSpPr/>
          <p:nvPr/>
        </p:nvSpPr>
        <p:spPr>
          <a:xfrm>
            <a:off x="5609245" y="5680237"/>
            <a:ext cx="1031432" cy="19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GAS_LEAK</a:t>
            </a:r>
            <a:endParaRPr lang="en-US" sz="1250" dirty="0">
              <a:cs typeface="B Nazanin" panose="00000400000000000000" pitchFamily="2" charset="-78"/>
            </a:endParaRPr>
          </a:p>
        </p:txBody>
      </p:sp>
      <p:sp>
        <p:nvSpPr>
          <p:cNvPr id="48" name="Text 42"/>
          <p:cNvSpPr/>
          <p:nvPr/>
        </p:nvSpPr>
        <p:spPr>
          <a:xfrm>
            <a:off x="4288165" y="5680237"/>
            <a:ext cx="1031432" cy="19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NORMAL</a:t>
            </a:r>
            <a:endParaRPr lang="en-US" sz="1250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1436193"/>
            <a:ext cx="1086901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fa-IR" alt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مدیریت همزمان حوادث</a:t>
            </a:r>
            <a:endParaRPr lang="fa-IR" sz="3600" dirty="0"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51893" y="2404864"/>
            <a:ext cx="114786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در وقوع همزمان، سیستم بلافاصله به حالت حریق ارتقا می‌یابد (</a:t>
            </a:r>
            <a:r>
              <a:rPr lang="fa-IR" altLang="en-US" sz="1467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منطق ارتقاء اولویت</a:t>
            </a:r>
            <a:r>
              <a:rPr lang="fa-IR" altLang="en-US" sz="1467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)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61493" y="2919909"/>
            <a:ext cx="10869017" cy="2501900"/>
          </a:xfrm>
          <a:prstGeom prst="roundRect">
            <a:avLst>
              <a:gd name="adj" fmla="val 317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5" name="Shape 3"/>
          <p:cNvSpPr/>
          <p:nvPr/>
        </p:nvSpPr>
        <p:spPr>
          <a:xfrm>
            <a:off x="661493" y="3471367"/>
            <a:ext cx="10869017" cy="1181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6" name="Shape 4"/>
          <p:cNvSpPr/>
          <p:nvPr/>
        </p:nvSpPr>
        <p:spPr>
          <a:xfrm>
            <a:off x="661493" y="4019650"/>
            <a:ext cx="10869017" cy="1181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7" name="Shape 5"/>
          <p:cNvSpPr/>
          <p:nvPr/>
        </p:nvSpPr>
        <p:spPr>
          <a:xfrm>
            <a:off x="661493" y="4567932"/>
            <a:ext cx="10869017" cy="1181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8" name="Shape 6"/>
          <p:cNvSpPr/>
          <p:nvPr/>
        </p:nvSpPr>
        <p:spPr>
          <a:xfrm>
            <a:off x="667941" y="2926259"/>
            <a:ext cx="3799681" cy="545108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9" name="Text 7"/>
          <p:cNvSpPr/>
          <p:nvPr/>
        </p:nvSpPr>
        <p:spPr>
          <a:xfrm>
            <a:off x="661490" y="2926260"/>
            <a:ext cx="3552701" cy="5514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33000"/>
              </a:lnSpc>
            </a:pPr>
            <a:r>
              <a:rPr lang="fa-IR" altLang="en-US" sz="1467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رویداد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67622" y="2926259"/>
            <a:ext cx="2171204" cy="545108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11" name="Text 9"/>
          <p:cNvSpPr/>
          <p:nvPr/>
        </p:nvSpPr>
        <p:spPr>
          <a:xfrm>
            <a:off x="4047034" y="2926258"/>
            <a:ext cx="2780804" cy="5569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33000"/>
              </a:lnSpc>
            </a:pPr>
            <a:r>
              <a:rPr lang="fa-IR" altLang="en-US" sz="1467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اولویت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638826" y="2926259"/>
            <a:ext cx="4885333" cy="545108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13" name="Text 11"/>
          <p:cNvSpPr/>
          <p:nvPr/>
        </p:nvSpPr>
        <p:spPr>
          <a:xfrm>
            <a:off x="6449814" y="2950776"/>
            <a:ext cx="5074245" cy="506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33000"/>
              </a:lnSpc>
            </a:pPr>
            <a:r>
              <a:rPr lang="fa-IR" altLang="en-US" sz="1467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اقدام سیستم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7941" y="3495883"/>
            <a:ext cx="3610669" cy="5269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نشت گاز مستقل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214190" y="3474543"/>
            <a:ext cx="2235623" cy="5482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33000"/>
              </a:lnSpc>
            </a:pPr>
            <a:r>
              <a:rPr lang="ar-SA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متوسط</a:t>
            </a:r>
            <a:endParaRPr lang="ar-SA" sz="1467" dirty="0">
              <a:cs typeface="B Nazanin" panose="00000400000000000000" pitchFamily="2" charset="-7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49814" y="3474543"/>
            <a:ext cx="5074245" cy="5482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بستن شیر گاز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1490" y="4022825"/>
            <a:ext cx="3617120" cy="532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بحران حریق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278610" y="4022825"/>
            <a:ext cx="2171204" cy="545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33000"/>
              </a:lnSpc>
            </a:pPr>
            <a:r>
              <a:rPr lang="fa-IR" altLang="en-US" sz="1467" dirty="0">
                <a:solidFill>
                  <a:srgbClr val="C0392B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بحرانی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18238" y="4036925"/>
            <a:ext cx="5305821" cy="525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روشن کردن پمپ + بستن شیر گاز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7941" y="4592447"/>
            <a:ext cx="3610669" cy="842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33000"/>
              </a:lnSpc>
            </a:pPr>
            <a:r>
              <a:rPr lang="ar-SA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وقوع همزمان</a:t>
            </a:r>
            <a:endParaRPr lang="ar-SA" sz="1467" dirty="0">
              <a:cs typeface="B Nazanin" panose="00000400000000000000" pitchFamily="2" charset="-7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214190" y="4562470"/>
            <a:ext cx="2235624" cy="842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33000"/>
              </a:lnSpc>
            </a:pPr>
            <a:r>
              <a:rPr lang="fa-IR" altLang="en-US" sz="1467" b="1" dirty="0">
                <a:solidFill>
                  <a:srgbClr val="C0392B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بحرانی (Override)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38826" y="4592448"/>
            <a:ext cx="4885233" cy="812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ارتقاء فوری به حالت حریق — دستور نشت نادیده گرفته می‌شود</a:t>
            </a:r>
            <a:endParaRPr lang="fa-IR" sz="1467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fa-I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7" y="506909"/>
            <a:ext cx="4382988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493" y="1880394"/>
            <a:ext cx="629701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fa-IR" alt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چرا رویکرد Bare-Metal؟</a:t>
            </a:r>
            <a:endParaRPr lang="fa-IR" sz="3600" dirty="0">
              <a:cs typeface="B Nazanin" panose="00000400000000000000" pitchFamily="2" charset="-78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097363" y="2754511"/>
            <a:ext cx="3190180" cy="2223095"/>
          </a:xfrm>
          <a:prstGeom prst="roundRect">
            <a:avLst>
              <a:gd name="adj" fmla="val 6122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6" name="Text 3"/>
          <p:cNvSpPr/>
          <p:nvPr/>
        </p:nvSpPr>
        <p:spPr>
          <a:xfrm>
            <a:off x="5286375" y="2943523"/>
            <a:ext cx="2812157" cy="590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rtl="1">
              <a:lnSpc>
                <a:spcPct val="104000"/>
              </a:lnSpc>
            </a:pPr>
            <a:r>
              <a:rPr lang="fa-IR" altLang="en-US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رویکرد سنتی Polling + Delay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7" name="Text 4"/>
          <p:cNvSpPr/>
          <p:nvPr/>
        </p:nvSpPr>
        <p:spPr>
          <a:xfrm>
            <a:off x="5286375" y="3723084"/>
            <a:ext cx="2812157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rtl="1">
              <a:lnSpc>
                <a:spcPct val="133000"/>
              </a:lnSpc>
            </a:pPr>
            <a:r>
              <a:rPr lang="fa-IR" altLang="en-US" sz="1467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خفگی پردازنده، پاسخ کند، غیرقابل اطمینان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18935" y="2943523"/>
            <a:ext cx="29179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fa-IR" altLang="en-US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راهکار ما NVIC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9" name="Text 6"/>
          <p:cNvSpPr/>
          <p:nvPr/>
        </p:nvSpPr>
        <p:spPr>
          <a:xfrm>
            <a:off x="8618935" y="3427809"/>
            <a:ext cx="2917924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تایمر</a:t>
            </a:r>
            <a:r>
              <a:rPr lang="en-US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4</a:t>
            </a: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هر </a:t>
            </a:r>
            <a:r>
              <a:rPr lang="en-US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10 ms</a:t>
            </a: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وقفه سخت‌افزاری ایجاد می‌کند تا کیپد اسکن شود</a:t>
            </a:r>
            <a:endParaRPr lang="fa-IR" sz="1467" dirty="0">
              <a:cs typeface="B Nazanin" panose="00000400000000000000" pitchFamily="2" charset="-78"/>
            </a:endParaRPr>
          </a:p>
          <a:p>
            <a:pPr algn="r"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پردازنده </a:t>
            </a:r>
            <a:r>
              <a:rPr lang="en-US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100%</a:t>
            </a: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زمان خود را صرف خواندن سنسورها می‌کند (واکنش زیر</a:t>
            </a:r>
            <a:r>
              <a:rPr lang="en-US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1 ms</a:t>
            </a: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)</a:t>
            </a:r>
            <a:endParaRPr lang="fa-IR" sz="1467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2075856"/>
            <a:ext cx="1086901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fa-IR" alt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دیباگینگ و رفع موانع اجرایی</a:t>
            </a:r>
            <a:endParaRPr lang="fa-IR" sz="3600" dirty="0">
              <a:cs typeface="B Nazanin" panose="00000400000000000000" pitchFamily="2" charset="-78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544" y="3044529"/>
            <a:ext cx="3496965" cy="17376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47956" y="3258939"/>
            <a:ext cx="296654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fa-IR" alt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چالش </a:t>
            </a:r>
            <a:r>
              <a:rPr lang="en-US" alt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1</a:t>
            </a:r>
            <a:r>
              <a:rPr lang="fa-IR" alt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: لرزش کیپد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5" name="Text 2"/>
          <p:cNvSpPr/>
          <p:nvPr/>
        </p:nvSpPr>
        <p:spPr>
          <a:xfrm>
            <a:off x="8247956" y="3667622"/>
            <a:ext cx="2966541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rtl="1">
              <a:lnSpc>
                <a:spcPct val="133000"/>
              </a:lnSpc>
            </a:pPr>
            <a:r>
              <a:rPr lang="ar-SA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شمارنده هوشمند </a:t>
            </a:r>
            <a:r>
              <a:rPr lang="en-US" altLang="en-US" sz="1467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150ms</a:t>
            </a: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برای حذف نویز (Debounce)</a:t>
            </a:r>
            <a:endParaRPr lang="fa-IR" sz="1467" dirty="0">
              <a:cs typeface="B Nazanin" panose="00000400000000000000" pitchFamily="2" charset="-78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567" y="3044529"/>
            <a:ext cx="3496965" cy="173761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61979" y="3258939"/>
            <a:ext cx="296654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fa-IR" alt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چالش </a:t>
            </a:r>
            <a:r>
              <a:rPr lang="en-US" alt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2</a:t>
            </a:r>
            <a:r>
              <a:rPr lang="fa-IR" alt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: پایه‌های شناور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8" name="Text 4"/>
          <p:cNvSpPr/>
          <p:nvPr/>
        </p:nvSpPr>
        <p:spPr>
          <a:xfrm>
            <a:off x="4561979" y="3667622"/>
            <a:ext cx="2966541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فعال‌سازی مقاومت </a:t>
            </a:r>
            <a:r>
              <a:rPr lang="fa-IR" altLang="en-US" sz="1467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Pull-Up</a:t>
            </a: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داخلی برای جلوگیری از هذیان الکتریکی</a:t>
            </a:r>
            <a:endParaRPr lang="fa-IR" sz="1467" dirty="0">
              <a:cs typeface="B Nazanin" panose="00000400000000000000" pitchFamily="2" charset="-78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591" y="3044529"/>
            <a:ext cx="3496965" cy="173761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6003" y="3258939"/>
            <a:ext cx="2966541" cy="590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rtl="1">
              <a:lnSpc>
                <a:spcPct val="104000"/>
              </a:lnSpc>
            </a:pPr>
            <a:r>
              <a:rPr lang="fa-IR" alt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چالش </a:t>
            </a:r>
            <a:r>
              <a:rPr lang="en-US" alt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3</a:t>
            </a:r>
            <a:r>
              <a:rPr lang="fa-IR" alt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: قفل رجیسترهای سایه سروو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11" name="Text 6"/>
          <p:cNvSpPr/>
          <p:nvPr/>
        </p:nvSpPr>
        <p:spPr>
          <a:xfrm>
            <a:off x="876003" y="3962896"/>
            <a:ext cx="2966541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دستور سخت‌افزاری به‌روزرسانی رویداد تایمر (</a:t>
            </a:r>
            <a:r>
              <a:rPr lang="fa-IR" altLang="en-US" sz="1467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UG bit</a:t>
            </a: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)</a:t>
            </a:r>
            <a:endParaRPr lang="fa-IR" sz="1467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1405434"/>
            <a:ext cx="1086901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ar-SA" alt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برآورد WCET و WCRT</a:t>
            </a:r>
            <a:endParaRPr lang="ar-SA" sz="3600" dirty="0">
              <a:cs typeface="B Nazanin" panose="00000400000000000000" pitchFamily="2" charset="-7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61493" y="2492176"/>
            <a:ext cx="5203924" cy="736997"/>
          </a:xfrm>
          <a:prstGeom prst="roundRect">
            <a:avLst>
              <a:gd name="adj" fmla="val 10772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fa-I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03" y="2778919"/>
            <a:ext cx="236240" cy="1890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6156" y="2709465"/>
            <a:ext cx="501024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33000"/>
              </a:lnSpc>
            </a:pPr>
            <a:r>
              <a:rPr lang="fa-IR" altLang="en-US" sz="14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زمان پاسخ‌گویی کل سیستم در بدترین حالت: </a:t>
            </a:r>
            <a:r>
              <a:rPr lang="fa-IR" altLang="en-US" sz="1467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&lt; </a:t>
            </a:r>
            <a:r>
              <a:rPr lang="en-US" altLang="en-US" sz="1467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1 ms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6" name="Text 3"/>
          <p:cNvSpPr/>
          <p:nvPr/>
        </p:nvSpPr>
        <p:spPr>
          <a:xfrm>
            <a:off x="661493" y="3441799"/>
            <a:ext cx="5203924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تمام وظایف بحرانی در بازه‌های زمانی بسیار کوتاه اجرا می‌شوند و پاسخ‌دهی بلادرنگ را تضمین می‌کنند.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332935" y="2492177"/>
            <a:ext cx="5203924" cy="2747764"/>
          </a:xfrm>
          <a:prstGeom prst="roundRect">
            <a:avLst>
              <a:gd name="adj" fmla="val 288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8" name="Shape 5"/>
          <p:cNvSpPr/>
          <p:nvPr/>
        </p:nvSpPr>
        <p:spPr>
          <a:xfrm>
            <a:off x="6332935" y="3043635"/>
            <a:ext cx="5203924" cy="1181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9" name="Shape 6"/>
          <p:cNvSpPr/>
          <p:nvPr/>
        </p:nvSpPr>
        <p:spPr>
          <a:xfrm>
            <a:off x="6332935" y="3591918"/>
            <a:ext cx="5203924" cy="1181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10" name="Shape 7"/>
          <p:cNvSpPr/>
          <p:nvPr/>
        </p:nvSpPr>
        <p:spPr>
          <a:xfrm>
            <a:off x="6332935" y="4140200"/>
            <a:ext cx="5203924" cy="1181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11" name="Shape 8"/>
          <p:cNvSpPr/>
          <p:nvPr/>
        </p:nvSpPr>
        <p:spPr>
          <a:xfrm>
            <a:off x="6332935" y="4688483"/>
            <a:ext cx="5203924" cy="1181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12" name="Shape 9"/>
          <p:cNvSpPr/>
          <p:nvPr/>
        </p:nvSpPr>
        <p:spPr>
          <a:xfrm>
            <a:off x="8156278" y="2492177"/>
            <a:ext cx="11813" cy="274776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14" name="Shape 11"/>
          <p:cNvSpPr/>
          <p:nvPr/>
        </p:nvSpPr>
        <p:spPr>
          <a:xfrm>
            <a:off x="6339384" y="2498527"/>
            <a:ext cx="1816893" cy="545108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13" name="Shape 10"/>
          <p:cNvSpPr/>
          <p:nvPr/>
        </p:nvSpPr>
        <p:spPr>
          <a:xfrm>
            <a:off x="9713615" y="2492177"/>
            <a:ext cx="11813" cy="274776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15" name="Text 12"/>
          <p:cNvSpPr/>
          <p:nvPr/>
        </p:nvSpPr>
        <p:spPr>
          <a:xfrm>
            <a:off x="6351197" y="2495352"/>
            <a:ext cx="1816893" cy="5451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33000"/>
              </a:lnSpc>
            </a:pPr>
            <a:r>
              <a:rPr lang="fa-IR" altLang="en-US" sz="1467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وظیفه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156278" y="2498527"/>
            <a:ext cx="1557337" cy="545108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17" name="Text 14"/>
          <p:cNvSpPr/>
          <p:nvPr/>
        </p:nvSpPr>
        <p:spPr>
          <a:xfrm>
            <a:off x="8168091" y="2507166"/>
            <a:ext cx="1557336" cy="5482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33000"/>
              </a:lnSpc>
            </a:pPr>
            <a:r>
              <a:rPr lang="fa-IR" altLang="en-US" sz="1467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زمان تخمینی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713615" y="2498527"/>
            <a:ext cx="1816893" cy="545108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19" name="Text 16"/>
          <p:cNvSpPr/>
          <p:nvPr/>
        </p:nvSpPr>
        <p:spPr>
          <a:xfrm>
            <a:off x="9725426" y="2532552"/>
            <a:ext cx="1800417" cy="5110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33000"/>
              </a:lnSpc>
            </a:pPr>
            <a:r>
              <a:rPr lang="fa-IR" altLang="en-US" sz="1467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تأثیر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339384" y="3040461"/>
            <a:ext cx="1828706" cy="5632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تبدیل ADC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179904" y="3043635"/>
            <a:ext cx="1533711" cy="5482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3000"/>
              </a:lnSpc>
            </a:pPr>
            <a:r>
              <a:rPr 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~15 µs</a:t>
            </a:r>
            <a:endParaRPr lang="en-US" sz="1467" dirty="0">
              <a:cs typeface="B Nazanin" panose="00000400000000000000" pitchFamily="2" charset="-78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713615" y="3064087"/>
            <a:ext cx="1812228" cy="4874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بسیار پایین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332935" y="3618718"/>
            <a:ext cx="1846969" cy="5214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اسکن کیپد در ISR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8179904" y="3615543"/>
            <a:ext cx="1533711" cy="539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3000"/>
              </a:lnSpc>
            </a:pPr>
            <a:r>
              <a:rPr 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~3 µs</a:t>
            </a:r>
            <a:endParaRPr lang="en-US" sz="1467" dirty="0">
              <a:cs typeface="B Nazanin" panose="00000400000000000000" pitchFamily="2" charset="-7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713615" y="3612367"/>
            <a:ext cx="1812228" cy="5278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ناچیز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351197" y="4155189"/>
            <a:ext cx="1816893" cy="5332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ارزیابی FSM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186353" y="4167001"/>
            <a:ext cx="1539076" cy="509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3000"/>
              </a:lnSpc>
            </a:pPr>
            <a:r>
              <a:rPr 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~20 µs</a:t>
            </a:r>
            <a:endParaRPr lang="en-US" sz="1467" dirty="0">
              <a:cs typeface="B Nazanin" panose="00000400000000000000" pitchFamily="2" charset="-78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9713615" y="4167001"/>
            <a:ext cx="1812228" cy="4978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سریع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363009" y="4712110"/>
            <a:ext cx="1805081" cy="512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به‌روزرسانی LCD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8168090" y="4712111"/>
            <a:ext cx="1557339" cy="512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3000"/>
              </a:lnSpc>
            </a:pPr>
            <a:r>
              <a:rPr 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~40 µs/char</a:t>
            </a:r>
            <a:endParaRPr lang="en-US" sz="1467" dirty="0">
              <a:cs typeface="B Nazanin" panose="00000400000000000000" pitchFamily="2" charset="-78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9713614" y="4712110"/>
            <a:ext cx="1816894" cy="5128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کوتاه و محدود</a:t>
            </a:r>
            <a:endParaRPr lang="fa-IR" sz="1467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fa-I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457" y="506909"/>
            <a:ext cx="4382988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93" y="1379737"/>
            <a:ext cx="629701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fa-IR" alt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نمایش عملکرد عملی سیستم</a:t>
            </a:r>
            <a:endParaRPr lang="fa-IR" sz="3600" dirty="0">
              <a:cs typeface="B Nazanin" panose="00000400000000000000" pitchFamily="2" charset="-78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904557" y="2253853"/>
            <a:ext cx="3053953" cy="1517651"/>
          </a:xfrm>
          <a:prstGeom prst="roundRect">
            <a:avLst>
              <a:gd name="adj" fmla="val 523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6" name="Text 3"/>
          <p:cNvSpPr/>
          <p:nvPr/>
        </p:nvSpPr>
        <p:spPr>
          <a:xfrm>
            <a:off x="4099918" y="2449215"/>
            <a:ext cx="26632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fa-IR" altLang="en-US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🟢</a:t>
            </a:r>
            <a:r>
              <a:rPr lang="fa-IR" alt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 حالت عادی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7" name="Text 4"/>
          <p:cNvSpPr/>
          <p:nvPr/>
        </p:nvSpPr>
        <p:spPr>
          <a:xfrm>
            <a:off x="4099918" y="2857898"/>
            <a:ext cx="2663229" cy="71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3000"/>
              </a:lnSpc>
              <a:spcAft>
                <a:spcPts val="867"/>
              </a:spcAft>
            </a:pPr>
            <a:r>
              <a:rPr lang="en-US" sz="1467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SYSTEM SECURE</a:t>
            </a:r>
            <a:endParaRPr lang="en-US" sz="1467" dirty="0">
              <a:cs typeface="B Nazanin" panose="00000400000000000000" pitchFamily="2" charset="-78"/>
            </a:endParaRPr>
          </a:p>
          <a:p>
            <a:pPr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همه سیستم‌ها پایدار</a:t>
            </a:r>
            <a:endParaRPr lang="en-US" sz="1467" dirty="0">
              <a:cs typeface="B Nazanin" panose="00000400000000000000" pitchFamily="2" charset="-78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61493" y="2253853"/>
            <a:ext cx="3054052" cy="1517651"/>
          </a:xfrm>
          <a:prstGeom prst="roundRect">
            <a:avLst>
              <a:gd name="adj" fmla="val 523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9" name="Text 6"/>
          <p:cNvSpPr/>
          <p:nvPr/>
        </p:nvSpPr>
        <p:spPr>
          <a:xfrm>
            <a:off x="856854" y="2449215"/>
            <a:ext cx="26633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fa-IR" altLang="en-US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🟠</a:t>
            </a:r>
            <a:r>
              <a:rPr lang="fa-IR" alt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 نشت گاز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56854" y="2857898"/>
            <a:ext cx="2663329" cy="71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3000"/>
              </a:lnSpc>
              <a:spcAft>
                <a:spcPts val="867"/>
              </a:spcAft>
            </a:pPr>
            <a:r>
              <a:rPr lang="en-US" sz="1467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GAS LEAK</a:t>
            </a:r>
            <a:endParaRPr lang="en-US" sz="1467" dirty="0">
              <a:cs typeface="B Nazanin" panose="00000400000000000000" pitchFamily="2" charset="-78"/>
            </a:endParaRPr>
          </a:p>
          <a:p>
            <a:pPr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بستن خودکار شیر گاز</a:t>
            </a:r>
            <a:endParaRPr lang="en-US" sz="1467" dirty="0">
              <a:cs typeface="B Nazanin" panose="00000400000000000000" pitchFamily="2" charset="-78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61493" y="3960515"/>
            <a:ext cx="6297017" cy="1517651"/>
          </a:xfrm>
          <a:prstGeom prst="roundRect">
            <a:avLst>
              <a:gd name="adj" fmla="val 523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2" name="Text 9"/>
          <p:cNvSpPr/>
          <p:nvPr/>
        </p:nvSpPr>
        <p:spPr>
          <a:xfrm>
            <a:off x="856854" y="4155876"/>
            <a:ext cx="590629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fa-IR" altLang="en-US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🔴</a:t>
            </a:r>
            <a:r>
              <a:rPr lang="fa-IR" alt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 حریق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56854" y="4564559"/>
            <a:ext cx="5906293" cy="71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3000"/>
              </a:lnSpc>
              <a:spcAft>
                <a:spcPts val="867"/>
              </a:spcAft>
            </a:pPr>
            <a:r>
              <a:rPr lang="en-US" sz="1467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FIRE ALARM</a:t>
            </a:r>
            <a:endParaRPr lang="en-US" sz="1467" dirty="0">
              <a:cs typeface="B Nazanin" panose="00000400000000000000" pitchFamily="2" charset="-78"/>
            </a:endParaRPr>
          </a:p>
          <a:p>
            <a:pPr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روشن شدن پمپ آب + بستن شیر گاز</a:t>
            </a:r>
            <a:endParaRPr lang="en-US" sz="1467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CC2BBE-24B6-2E3F-D7E1-08A773781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42" y="859768"/>
            <a:ext cx="8357188" cy="5843451"/>
          </a:xfrm>
          <a:prstGeom prst="rect">
            <a:avLst/>
          </a:prstGeom>
        </p:spPr>
      </p:pic>
      <p:sp>
        <p:nvSpPr>
          <p:cNvPr id="9" name="Shape 2">
            <a:extLst>
              <a:ext uri="{FF2B5EF4-FFF2-40B4-BE49-F238E27FC236}">
                <a16:creationId xmlns:a16="http://schemas.microsoft.com/office/drawing/2014/main" id="{5CA539ED-D7F2-A941-5561-7E8C0E109225}"/>
              </a:ext>
            </a:extLst>
          </p:cNvPr>
          <p:cNvSpPr/>
          <p:nvPr/>
        </p:nvSpPr>
        <p:spPr>
          <a:xfrm>
            <a:off x="8750593" y="255723"/>
            <a:ext cx="3053953" cy="1517651"/>
          </a:xfrm>
          <a:prstGeom prst="roundRect">
            <a:avLst>
              <a:gd name="adj" fmla="val 523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1D4E9A22-954E-3C4F-EE38-F063D13860B2}"/>
              </a:ext>
            </a:extLst>
          </p:cNvPr>
          <p:cNvSpPr/>
          <p:nvPr/>
        </p:nvSpPr>
        <p:spPr>
          <a:xfrm>
            <a:off x="8945954" y="451085"/>
            <a:ext cx="26632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fa-IR" altLang="en-US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🟢</a:t>
            </a:r>
            <a:r>
              <a:rPr lang="fa-IR" alt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 حالت عادی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0549E9E2-7303-A329-7485-0108CD2A0DCD}"/>
              </a:ext>
            </a:extLst>
          </p:cNvPr>
          <p:cNvSpPr/>
          <p:nvPr/>
        </p:nvSpPr>
        <p:spPr>
          <a:xfrm>
            <a:off x="8945954" y="859768"/>
            <a:ext cx="2663229" cy="71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3000"/>
              </a:lnSpc>
              <a:spcAft>
                <a:spcPts val="867"/>
              </a:spcAft>
            </a:pPr>
            <a:r>
              <a:rPr lang="en-US" sz="1467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SYSTEM SECURE</a:t>
            </a:r>
            <a:endParaRPr lang="en-US" sz="1467" dirty="0">
              <a:cs typeface="B Nazanin" panose="00000400000000000000" pitchFamily="2" charset="-78"/>
            </a:endParaRPr>
          </a:p>
          <a:p>
            <a:pPr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همه سیستم‌ها پایدار</a:t>
            </a:r>
            <a:endParaRPr lang="en-US" sz="1467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28590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E05A9AA9-A8BA-FB8E-BA2E-0CA2A2B62C51}"/>
              </a:ext>
            </a:extLst>
          </p:cNvPr>
          <p:cNvSpPr/>
          <p:nvPr/>
        </p:nvSpPr>
        <p:spPr>
          <a:xfrm>
            <a:off x="8725630" y="248191"/>
            <a:ext cx="3054052" cy="1517651"/>
          </a:xfrm>
          <a:prstGeom prst="roundRect">
            <a:avLst>
              <a:gd name="adj" fmla="val 523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B1C78CB5-1F5F-905A-4273-FD6165F466C2}"/>
              </a:ext>
            </a:extLst>
          </p:cNvPr>
          <p:cNvSpPr/>
          <p:nvPr/>
        </p:nvSpPr>
        <p:spPr>
          <a:xfrm>
            <a:off x="8920991" y="443553"/>
            <a:ext cx="26633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fa-IR" altLang="en-US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🟠</a:t>
            </a:r>
            <a:r>
              <a:rPr lang="fa-IR" alt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 نشت گاز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5B83CF6F-3289-D252-648C-0615E5DC7FBA}"/>
              </a:ext>
            </a:extLst>
          </p:cNvPr>
          <p:cNvSpPr/>
          <p:nvPr/>
        </p:nvSpPr>
        <p:spPr>
          <a:xfrm>
            <a:off x="8920991" y="852236"/>
            <a:ext cx="2663329" cy="71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3000"/>
              </a:lnSpc>
              <a:spcAft>
                <a:spcPts val="867"/>
              </a:spcAft>
            </a:pPr>
            <a:r>
              <a:rPr lang="en-US" sz="1467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GAS LEAK</a:t>
            </a:r>
            <a:endParaRPr lang="en-US" sz="1467" dirty="0">
              <a:cs typeface="B Nazanin" panose="00000400000000000000" pitchFamily="2" charset="-78"/>
            </a:endParaRPr>
          </a:p>
          <a:p>
            <a:pPr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بستن خودکار شیر گاز</a:t>
            </a:r>
            <a:endParaRPr lang="en-US" sz="1467" dirty="0">
              <a:cs typeface="B Nazanin" panose="00000400000000000000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A0E189-5D3C-80AB-9AF9-46EED8BBD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38" y="852236"/>
            <a:ext cx="8315296" cy="582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005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8">
            <a:extLst>
              <a:ext uri="{FF2B5EF4-FFF2-40B4-BE49-F238E27FC236}">
                <a16:creationId xmlns:a16="http://schemas.microsoft.com/office/drawing/2014/main" id="{F6BBA78C-1E74-6320-E12F-F2124203A425}"/>
              </a:ext>
            </a:extLst>
          </p:cNvPr>
          <p:cNvSpPr/>
          <p:nvPr/>
        </p:nvSpPr>
        <p:spPr>
          <a:xfrm>
            <a:off x="8713695" y="258091"/>
            <a:ext cx="2953146" cy="1517651"/>
          </a:xfrm>
          <a:prstGeom prst="roundRect">
            <a:avLst>
              <a:gd name="adj" fmla="val 523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2435793F-2818-708E-2588-B76E201E1DE0}"/>
              </a:ext>
            </a:extLst>
          </p:cNvPr>
          <p:cNvSpPr/>
          <p:nvPr/>
        </p:nvSpPr>
        <p:spPr>
          <a:xfrm>
            <a:off x="8713694" y="453452"/>
            <a:ext cx="28186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fa-IR" altLang="en-US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🔴</a:t>
            </a:r>
            <a:r>
              <a:rPr lang="fa-IR" alt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 حریق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A8B29E92-D37E-AA8F-AD3D-AE3358A72201}"/>
              </a:ext>
            </a:extLst>
          </p:cNvPr>
          <p:cNvSpPr/>
          <p:nvPr/>
        </p:nvSpPr>
        <p:spPr>
          <a:xfrm>
            <a:off x="8848163" y="862135"/>
            <a:ext cx="2818677" cy="71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3000"/>
              </a:lnSpc>
              <a:spcAft>
                <a:spcPts val="867"/>
              </a:spcAft>
            </a:pPr>
            <a:r>
              <a:rPr lang="en-US" sz="1467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FIRE ALARM</a:t>
            </a:r>
            <a:endParaRPr lang="en-US" sz="1467" dirty="0">
              <a:cs typeface="B Nazanin" panose="00000400000000000000" pitchFamily="2" charset="-78"/>
            </a:endParaRPr>
          </a:p>
          <a:p>
            <a:pPr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روشن شدن پمپ آب + بستن شیر گاز</a:t>
            </a:r>
            <a:endParaRPr lang="en-US" sz="1467" dirty="0">
              <a:cs typeface="B Nazanin" panose="00000400000000000000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65BC24-8EFB-C58B-F34D-4DD9B5C54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27" y="862135"/>
            <a:ext cx="8230359" cy="579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425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8" y="112911"/>
            <a:ext cx="4421385" cy="66320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0" y="696119"/>
            <a:ext cx="7037293" cy="678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04000"/>
              </a:lnSpc>
            </a:pPr>
            <a:r>
              <a:rPr lang="fa-IR" altLang="en-US" sz="3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عملکرد کلیدهای کیپد و بازخورد منوها روی LCD</a:t>
            </a:r>
            <a:endParaRPr lang="fa-IR" sz="3200" dirty="0">
              <a:cs typeface="B Nazanin" panose="00000400000000000000" pitchFamily="2" charset="-78"/>
            </a:endParaRPr>
          </a:p>
        </p:txBody>
      </p:sp>
      <p:sp>
        <p:nvSpPr>
          <p:cNvPr id="5" name="Text 2"/>
          <p:cNvSpPr/>
          <p:nvPr/>
        </p:nvSpPr>
        <p:spPr>
          <a:xfrm>
            <a:off x="4623893" y="1600796"/>
            <a:ext cx="6906617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20000"/>
              </a:lnSpc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کیپد ماتریسی رابط اصلی HMI است و با مسیریابی وابسته به حالت، خطاهای اپراتور را کم می‌کند.</a:t>
            </a:r>
            <a:endParaRPr lang="fa-IR" sz="1400" dirty="0">
              <a:cs typeface="B Nazanin" panose="00000400000000000000" pitchFamily="2" charset="-78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48133" y="2146450"/>
            <a:ext cx="225921" cy="2259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57010" y="2141836"/>
            <a:ext cx="258405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fa-IR" alt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کلید A (لغو و بازگشت):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8" name="Text 4"/>
          <p:cNvSpPr/>
          <p:nvPr/>
        </p:nvSpPr>
        <p:spPr>
          <a:xfrm>
            <a:off x="8457010" y="2449116"/>
            <a:ext cx="2584053" cy="69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30288" indent="-230288" algn="r" rtl="1">
              <a:lnSpc>
                <a:spcPct val="120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در بیشتر منوها، عملیات را لغو می‌کند</a:t>
            </a:r>
            <a:endParaRPr lang="fa-IR" sz="1400" dirty="0">
              <a:cs typeface="B Nazanin" panose="00000400000000000000" pitchFamily="2" charset="-78"/>
            </a:endParaRPr>
          </a:p>
          <a:p>
            <a:pPr marL="230288" indent="-230288" algn="r" rtl="1">
              <a:lnSpc>
                <a:spcPct val="120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پیام CANCELED را نشان می‌دهد و به SYSTEM: SECURE برمی‌گردد</a:t>
            </a:r>
            <a:endParaRPr lang="fa-IR" sz="1400" dirty="0">
              <a:cs typeface="B Nazanin" panose="00000400000000000000" pitchFamily="2" charset="-78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4616" y="2146450"/>
            <a:ext cx="225921" cy="22592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33492" y="2141836"/>
            <a:ext cx="258405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fa-IR" alt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کلید B (شیر گاز):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233492" y="2449117"/>
            <a:ext cx="2584053" cy="1382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30288" indent="-230288" algn="r" rtl="1">
              <a:lnSpc>
                <a:spcPct val="120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اگر شیر باز باشد، منوی SHUT GAS می‌آید</a:t>
            </a:r>
            <a:endParaRPr lang="fa-IR" sz="1400" dirty="0">
              <a:cs typeface="B Nazanin" panose="00000400000000000000" pitchFamily="2" charset="-78"/>
            </a:endParaRPr>
          </a:p>
          <a:p>
            <a:pPr marL="230288" indent="-230288" algn="r" rtl="1">
              <a:lnSpc>
                <a:spcPct val="120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اگر شیر بسته باشد، منوی OPEN GAS می‌آید</a:t>
            </a:r>
            <a:endParaRPr lang="fa-IR" sz="1400" dirty="0">
              <a:cs typeface="B Nazanin" panose="00000400000000000000" pitchFamily="2" charset="-78"/>
            </a:endParaRPr>
          </a:p>
          <a:p>
            <a:pPr marL="230288" indent="-230288" algn="r" rtl="1">
              <a:lnSpc>
                <a:spcPct val="120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بعد از رمز ۴ رقمی، وضعیت GAS VLV: CLOSED / OPEN نمایش داده می‌شود</a:t>
            </a:r>
            <a:endParaRPr lang="fa-IR" sz="1400" dirty="0">
              <a:cs typeface="B Nazanin" panose="00000400000000000000" pitchFamily="2" charset="-78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48133" y="3505548"/>
            <a:ext cx="225921" cy="22592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57010" y="3500933"/>
            <a:ext cx="258405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fa-IR" alt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کلید C (پمپ آب):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14" name="Text 8"/>
          <p:cNvSpPr/>
          <p:nvPr/>
        </p:nvSpPr>
        <p:spPr>
          <a:xfrm>
            <a:off x="8457010" y="3808214"/>
            <a:ext cx="2584053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30288" indent="-230288" algn="r" rtl="1">
              <a:lnSpc>
                <a:spcPct val="120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وضعیت پمپ را بررسی می‌کند</a:t>
            </a:r>
            <a:endParaRPr lang="fa-IR" sz="1400" dirty="0">
              <a:cs typeface="B Nazanin" panose="00000400000000000000" pitchFamily="2" charset="-78"/>
            </a:endParaRPr>
          </a:p>
          <a:p>
            <a:pPr marL="230288" indent="-230288" algn="r" rtl="1">
              <a:lnSpc>
                <a:spcPct val="120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اگر خاموش باشد، STRT WTR می‌آید</a:t>
            </a:r>
            <a:endParaRPr lang="fa-IR" sz="1400" dirty="0">
              <a:cs typeface="B Nazanin" panose="00000400000000000000" pitchFamily="2" charset="-78"/>
            </a:endParaRPr>
          </a:p>
          <a:p>
            <a:pPr marL="230288" indent="-230288" algn="r" rtl="1">
              <a:lnSpc>
                <a:spcPct val="120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اگر روشن باشد، STOP WTR می‌آید</a:t>
            </a:r>
            <a:endParaRPr lang="fa-IR" sz="1400" dirty="0">
              <a:cs typeface="B Nazanin" panose="00000400000000000000" pitchFamily="2" charset="-78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4616" y="4427189"/>
            <a:ext cx="225921" cy="22592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3492" y="4422574"/>
            <a:ext cx="258405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fa-IR" alt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کلید D (تغییر رمز):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5233492" y="4729854"/>
            <a:ext cx="2584053" cy="47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30288" indent="-230288" algn="r" rtl="1">
              <a:lnSpc>
                <a:spcPct val="120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رمز فعلی را می‌خواهد</a:t>
            </a:r>
            <a:endParaRPr lang="fa-IR" sz="1400" dirty="0">
              <a:cs typeface="B Nazanin" panose="00000400000000000000" pitchFamily="2" charset="-78"/>
            </a:endParaRPr>
          </a:p>
          <a:p>
            <a:pPr marL="230288" indent="-230288" algn="r" rtl="1">
              <a:lnSpc>
                <a:spcPct val="120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بعد از تایید، رمز جدید را ذخیره می‌کند</a:t>
            </a:r>
            <a:endParaRPr lang="fa-IR" sz="1400" dirty="0">
              <a:cs typeface="B Nazanin" panose="00000400000000000000" pitchFamily="2" charset="-78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48133" y="4786264"/>
            <a:ext cx="225921" cy="22592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457010" y="4781648"/>
            <a:ext cx="258405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fa-IR" alt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کلیدهای * و # (نمایش زنده):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8668871" y="5088929"/>
            <a:ext cx="2372192" cy="47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30288" indent="-230288" algn="r" rtl="1">
              <a:lnSpc>
                <a:spcPct val="120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* دمای لحظه‌ای را نشان می‌دهد</a:t>
            </a:r>
            <a:endParaRPr lang="fa-IR" sz="1400" dirty="0">
              <a:cs typeface="B Nazanin" panose="00000400000000000000" pitchFamily="2" charset="-78"/>
            </a:endParaRPr>
          </a:p>
          <a:p>
            <a:pPr marL="230288" indent="-230288" algn="r" rtl="1">
              <a:lnSpc>
                <a:spcPct val="120000"/>
              </a:lnSpc>
              <a:buSzPct val="100000"/>
              <a:buChar char="•"/>
            </a:pPr>
            <a:r>
              <a:rPr lang="fa-IR" alt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# غلظت گاز را نشان می‌دهد</a:t>
            </a:r>
            <a:endParaRPr lang="fa-IR" sz="14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90466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1286670"/>
            <a:ext cx="1086901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fa-IR" alt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دستاوردها و چشم‌انداز توسعه</a:t>
            </a:r>
            <a:endParaRPr lang="fa-IR" sz="3600" dirty="0">
              <a:cs typeface="B Nazanin" panose="00000400000000000000" pitchFamily="2" charset="-7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6422" y="2373412"/>
            <a:ext cx="838993" cy="287139"/>
          </a:xfrm>
          <a:prstGeom prst="roundRect">
            <a:avLst>
              <a:gd name="adj" fmla="val 22119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4" name="Text 2"/>
          <p:cNvSpPr/>
          <p:nvPr/>
        </p:nvSpPr>
        <p:spPr>
          <a:xfrm>
            <a:off x="4530230" y="2430066"/>
            <a:ext cx="122178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96000"/>
              </a:lnSpc>
            </a:pPr>
            <a:r>
              <a:rPr lang="ar-SA" altLang="en-US" sz="1133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دستاوردها</a:t>
            </a:r>
            <a:endParaRPr lang="ar-SA" sz="1133" dirty="0">
              <a:cs typeface="B Nazanin" panose="00000400000000000000" pitchFamily="2" charset="-78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1106" y="2882603"/>
            <a:ext cx="283468" cy="2834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92" y="2873176"/>
            <a:ext cx="4589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سیستم بلادرنگ با پاسخ &lt; </a:t>
            </a:r>
            <a:r>
              <a:rPr lang="en-US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1ms</a:t>
            </a:r>
            <a:endParaRPr lang="fa-IR" sz="1467" dirty="0">
              <a:cs typeface="B Nazanin" panose="00000400000000000000" pitchFamily="2" charset="-78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1106" y="3837087"/>
            <a:ext cx="283468" cy="2834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92" y="3827661"/>
            <a:ext cx="4589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مدیریت همزمان I/O</a:t>
            </a:r>
            <a:endParaRPr lang="fa-IR" sz="1467" dirty="0">
              <a:cs typeface="B Nazanin" panose="00000400000000000000" pitchFamily="2" charset="-78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1106" y="4791571"/>
            <a:ext cx="283468" cy="2834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92" y="4782145"/>
            <a:ext cx="4589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33000"/>
              </a:lnSpc>
            </a:pPr>
            <a:r>
              <a:rPr lang="ar-SA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رابط </a:t>
            </a:r>
            <a:r>
              <a:rPr lang="ar-SA" altLang="en-US" sz="1467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HMI</a:t>
            </a:r>
            <a:r>
              <a:rPr lang="ar-SA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امن</a:t>
            </a:r>
            <a:endParaRPr lang="ar-SA" sz="1467" dirty="0">
              <a:cs typeface="B Nazanin" panose="00000400000000000000" pitchFamily="2" charset="-78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10447536" y="2373412"/>
            <a:ext cx="1089323" cy="287139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2" name="Text 7"/>
          <p:cNvSpPr/>
          <p:nvPr/>
        </p:nvSpPr>
        <p:spPr>
          <a:xfrm>
            <a:off x="9951343" y="2430066"/>
            <a:ext cx="147210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96000"/>
              </a:lnSpc>
            </a:pPr>
            <a:r>
              <a:rPr lang="fa-IR" altLang="en-US" sz="1133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چشم‌انداز آینده</a:t>
            </a:r>
            <a:endParaRPr lang="fa-IR" sz="1133" dirty="0">
              <a:cs typeface="B Nazanin" panose="00000400000000000000" pitchFamily="2" charset="-78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332935" y="2736156"/>
            <a:ext cx="52039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ar-SA" altLang="en-US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سخت‌افزار</a:t>
            </a:r>
            <a:endParaRPr lang="ar-SA" dirty="0">
              <a:cs typeface="B Nazanin" panose="00000400000000000000" pitchFamily="2" charset="-78"/>
            </a:endParaRPr>
          </a:p>
        </p:txBody>
      </p:sp>
      <p:sp>
        <p:nvSpPr>
          <p:cNvPr id="14" name="Text 9"/>
          <p:cNvSpPr/>
          <p:nvPr/>
        </p:nvSpPr>
        <p:spPr>
          <a:xfrm>
            <a:off x="5723335" y="3220443"/>
            <a:ext cx="58135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33000"/>
              </a:lnSpc>
            </a:pP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ماژول Wi-Fi برای قابلیت‌های IoT، نوتیفیکیشن موبایل</a:t>
            </a:r>
            <a:endParaRPr lang="fa-IR" sz="1467" dirty="0">
              <a:cs typeface="B Nazanin" panose="00000400000000000000" pitchFamily="2" charset="-78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332935" y="3711872"/>
            <a:ext cx="52039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4000"/>
              </a:lnSpc>
            </a:pPr>
            <a:r>
              <a:rPr lang="ar-SA" altLang="en-US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نرم‌افزار</a:t>
            </a:r>
            <a:endParaRPr lang="ar-SA" dirty="0">
              <a:cs typeface="B Nazanin" panose="00000400000000000000" pitchFamily="2" charset="-78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6332935" y="4196160"/>
            <a:ext cx="5203924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rtl="1">
              <a:lnSpc>
                <a:spcPct val="133000"/>
              </a:lnSpc>
            </a:pPr>
            <a:r>
              <a:rPr lang="ar-SA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مهاجرت به </a:t>
            </a:r>
            <a:r>
              <a:rPr lang="fa-IR" altLang="en-US" sz="1467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FreeRTOS</a:t>
            </a:r>
            <a:r>
              <a:rPr lang="fa-IR" alt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 برای سیستم‌های پیچیده‌تر، فیلتر دیجیتال </a:t>
            </a:r>
            <a:r>
              <a:rPr lang="fa-IR" altLang="en-US" sz="1467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B Nazanin" panose="00000400000000000000" pitchFamily="2" charset="-78"/>
              </a:rPr>
              <a:t>Moving Average</a:t>
            </a:r>
            <a:endParaRPr lang="fa-IR" sz="1467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fa-I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457" y="506909"/>
            <a:ext cx="4382988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93" y="2431952"/>
            <a:ext cx="629701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ct val="104000"/>
              </a:lnSpc>
            </a:pPr>
            <a:r>
              <a:rPr lang="fa-IR" alt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B Nazanin" panose="00000400000000000000" pitchFamily="2" charset="-78"/>
              </a:rPr>
              <a:t>با تشکر از توجه شما</a:t>
            </a:r>
            <a:endParaRPr lang="fa-IR" sz="3600" dirty="0">
              <a:cs typeface="B Nazanin" panose="00000400000000000000" pitchFamily="2" charset="-78"/>
            </a:endParaRPr>
          </a:p>
        </p:txBody>
      </p:sp>
      <p:sp>
        <p:nvSpPr>
          <p:cNvPr id="5" name="Text 2"/>
          <p:cNvSpPr/>
          <p:nvPr/>
        </p:nvSpPr>
        <p:spPr>
          <a:xfrm>
            <a:off x="661493" y="3306068"/>
            <a:ext cx="6297017" cy="173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3000"/>
              </a:lnSpc>
              <a:spcAft>
                <a:spcPts val="1667"/>
              </a:spcAft>
            </a:pPr>
            <a:r>
              <a:rPr lang="fa-IR" alt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آماده پاسخگویی به پرسش‌های شما هستم.</a:t>
            </a:r>
            <a:endParaRPr lang="fa-IR" sz="1600" dirty="0">
              <a:cs typeface="B Nazanin" panose="00000400000000000000" pitchFamily="2" charset="-78"/>
            </a:endParaRPr>
          </a:p>
          <a:p>
            <a:pPr algn="ctr" rtl="1">
              <a:lnSpc>
                <a:spcPct val="133000"/>
              </a:lnSpc>
            </a:pPr>
            <a:r>
              <a:rPr lang="fa-IR" alt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اعضای تیم:</a:t>
            </a:r>
          </a:p>
          <a:p>
            <a:pPr algn="ctr" rtl="1">
              <a:lnSpc>
                <a:spcPct val="133000"/>
              </a:lnSpc>
            </a:pPr>
            <a:r>
              <a:rPr lang="fa-IR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B Nazanin" panose="00000400000000000000" pitchFamily="2" charset="-78"/>
              </a:rPr>
              <a:t>نوید رستمی، معید غیادی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1618</Words>
  <Application>Microsoft Office PowerPoint</Application>
  <PresentationFormat>Widescreen</PresentationFormat>
  <Paragraphs>275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Roboto Bold</vt:lpstr>
      <vt:lpstr>Raleway Bold</vt:lpstr>
      <vt:lpstr>Arial</vt:lpstr>
      <vt:lpstr>B Nazanin</vt:lpstr>
      <vt:lpstr>Roboto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Moeid Ghiady</dc:creator>
  <cp:lastModifiedBy>navid rostami</cp:lastModifiedBy>
  <cp:revision>24</cp:revision>
  <dcterms:created xsi:type="dcterms:W3CDTF">2026-07-17T01:33:23Z</dcterms:created>
  <dcterms:modified xsi:type="dcterms:W3CDTF">2026-07-21T12:20:34Z</dcterms:modified>
</cp:coreProperties>
</file>